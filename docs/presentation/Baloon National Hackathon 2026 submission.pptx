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6398ccf1ee4101" /><Relationship Type="http://schemas.openxmlformats.org/officeDocument/2006/relationships/extended-properties" Target="/docProps/app.xml" Id="Rbd0ab9effe384ec4" /><Relationship Type="http://schemas.openxmlformats.org/officeDocument/2006/relationships/officeDocument" Target="/ppt/presentation.xml" Id="R2a728686c99b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d4f1192782410a"/>
  </p:sldMasterIdLst>
  <p:notesMasterIdLst>
    <p:notesMasterId xmlns:r="http://schemas.openxmlformats.org/officeDocument/2006/relationships" r:id="Rac7baeb26b734315"/>
  </p:notesMasterIdLst>
  <p:sldIdLst>
    <p:sldId xmlns:r="http://schemas.openxmlformats.org/officeDocument/2006/relationships" id="256" r:id="R0384fbc872574c9e"/>
    <p:sldId xmlns:r="http://schemas.openxmlformats.org/officeDocument/2006/relationships" id="257" r:id="R36747d2f89f441d3"/>
    <p:sldId xmlns:r="http://schemas.openxmlformats.org/officeDocument/2006/relationships" id="258" r:id="Rb2935d82a2264b6a"/>
    <p:sldId xmlns:r="http://schemas.openxmlformats.org/officeDocument/2006/relationships" id="259" r:id="R2098b770fb4f4c64"/>
    <p:sldId xmlns:r="http://schemas.openxmlformats.org/officeDocument/2006/relationships" id="260" r:id="R181497169e1b4271"/>
    <p:sldId xmlns:r="http://schemas.openxmlformats.org/officeDocument/2006/relationships" id="261" r:id="R0f6dd262b8a04cf1"/>
    <p:sldId xmlns:r="http://schemas.openxmlformats.org/officeDocument/2006/relationships" id="262" r:id="R7a74a08aefdd4bb8"/>
    <p:sldId xmlns:r="http://schemas.openxmlformats.org/officeDocument/2006/relationships" id="263" r:id="R60178eeba67f41fa"/>
    <p:sldId xmlns:r="http://schemas.openxmlformats.org/officeDocument/2006/relationships" id="264" r:id="R12889d6c63e74fdf"/>
    <p:sldId xmlns:r="http://schemas.openxmlformats.org/officeDocument/2006/relationships" id="265" r:id="R960348ac6a8a477a"/>
    <p:sldId xmlns:r="http://schemas.openxmlformats.org/officeDocument/2006/relationships" id="266" r:id="R69a4be9237c44832"/>
    <p:sldId xmlns:r="http://schemas.openxmlformats.org/officeDocument/2006/relationships" id="267" r:id="Rd0ea16b5598a4ab5"/>
    <p:sldId xmlns:r="http://schemas.openxmlformats.org/officeDocument/2006/relationships" id="268" r:id="Rb763986d0e0549ab"/>
    <p:sldId xmlns:r="http://schemas.openxmlformats.org/officeDocument/2006/relationships" id="269" r:id="Ra61b9eebc9f348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47747f781e48b6" /><Relationship Type="http://schemas.openxmlformats.org/officeDocument/2006/relationships/slideMaster" Target="/ppt/slideMasters/slideMaster1.xml" Id="R2fd4f1192782410a" /><Relationship Type="http://schemas.openxmlformats.org/officeDocument/2006/relationships/notesMaster" Target="/ppt/notesMasters/notesMaster1.xml" Id="Rac7baeb26b734315" /><Relationship Type="http://schemas.openxmlformats.org/officeDocument/2006/relationships/presProps" Target="/ppt/presProps.xml" Id="R25ca4413a96446c5" /><Relationship Type="http://schemas.openxmlformats.org/officeDocument/2006/relationships/tableStyles" Target="/ppt/tableStyles.xml" Id="R04e5cdeb6dc14afb" /><Relationship Type="http://schemas.openxmlformats.org/officeDocument/2006/relationships/slide" Target="/ppt/slides/slide1.xml" Id="R0384fbc872574c9e" /><Relationship Type="http://schemas.openxmlformats.org/officeDocument/2006/relationships/slide" Target="/ppt/slides/slide2.xml" Id="R36747d2f89f441d3" /><Relationship Type="http://schemas.openxmlformats.org/officeDocument/2006/relationships/slide" Target="/ppt/slides/slide3.xml" Id="Rb2935d82a2264b6a" /><Relationship Type="http://schemas.openxmlformats.org/officeDocument/2006/relationships/slide" Target="/ppt/slides/slide4.xml" Id="R2098b770fb4f4c64" /><Relationship Type="http://schemas.openxmlformats.org/officeDocument/2006/relationships/slide" Target="/ppt/slides/slide5.xml" Id="R181497169e1b4271" /><Relationship Type="http://schemas.openxmlformats.org/officeDocument/2006/relationships/slide" Target="/ppt/slides/slide6.xml" Id="R0f6dd262b8a04cf1" /><Relationship Type="http://schemas.openxmlformats.org/officeDocument/2006/relationships/slide" Target="/ppt/slides/slide7.xml" Id="R7a74a08aefdd4bb8" /><Relationship Type="http://schemas.openxmlformats.org/officeDocument/2006/relationships/slide" Target="/ppt/slides/slide8.xml" Id="R60178eeba67f41fa" /><Relationship Type="http://schemas.openxmlformats.org/officeDocument/2006/relationships/slide" Target="/ppt/slides/slide9.xml" Id="R12889d6c63e74fdf" /><Relationship Type="http://schemas.openxmlformats.org/officeDocument/2006/relationships/slide" Target="/ppt/slides/slide10.xml" Id="R960348ac6a8a477a" /><Relationship Type="http://schemas.openxmlformats.org/officeDocument/2006/relationships/slide" Target="/ppt/slides/slide11.xml" Id="R69a4be9237c44832" /><Relationship Type="http://schemas.openxmlformats.org/officeDocument/2006/relationships/slide" Target="/ppt/slides/slide12.xml" Id="Rd0ea16b5598a4ab5" /><Relationship Type="http://schemas.openxmlformats.org/officeDocument/2006/relationships/slide" Target="/ppt/slides/slide13.xml" Id="Rb763986d0e0549ab" /><Relationship Type="http://schemas.openxmlformats.org/officeDocument/2006/relationships/slide" Target="/ppt/slides/slide14.xml" Id="Ra61b9eebc9f348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6f946b9d11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4d47a17de44013" /><Relationship Type="http://schemas.openxmlformats.org/officeDocument/2006/relationships/notesMaster" Target="/ppt/notesMasters/notesMaster1.xml" Id="Rb53768f9916c40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6ac08061224118" /><Relationship Type="http://schemas.openxmlformats.org/officeDocument/2006/relationships/notesMaster" Target="/ppt/notesMasters/notesMaster1.xml" Id="R630ad37a0ffa41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0ebfc15d0a458f" /><Relationship Type="http://schemas.openxmlformats.org/officeDocument/2006/relationships/notesMaster" Target="/ppt/notesMasters/notesMaster1.xml" Id="Rd46a7598381b45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ce5dcbbdd44bc3" /><Relationship Type="http://schemas.openxmlformats.org/officeDocument/2006/relationships/notesMaster" Target="/ppt/notesMasters/notesMaster1.xml" Id="R6a3e01185f0e4b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0beb9e5db34d3d" /><Relationship Type="http://schemas.openxmlformats.org/officeDocument/2006/relationships/notesMaster" Target="/ppt/notesMasters/notesMaster1.xml" Id="R2cb9f6ea559040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ab74ba4f564cf4" /><Relationship Type="http://schemas.openxmlformats.org/officeDocument/2006/relationships/notesMaster" Target="/ppt/notesMasters/notesMaster1.xml" Id="R33e2c822c46d43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5b2c64f740425c" /><Relationship Type="http://schemas.openxmlformats.org/officeDocument/2006/relationships/notesMaster" Target="/ppt/notesMasters/notesMaster1.xml" Id="R120a58910d8b4e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1e593cbac74449" /><Relationship Type="http://schemas.openxmlformats.org/officeDocument/2006/relationships/notesMaster" Target="/ppt/notesMasters/notesMaster1.xml" Id="R25430e9b587f4d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43dbe5b7724ec4" /><Relationship Type="http://schemas.openxmlformats.org/officeDocument/2006/relationships/notesMaster" Target="/ppt/notesMasters/notesMaster1.xml" Id="Re93cdae6fe2e41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85500c723e4376" /><Relationship Type="http://schemas.openxmlformats.org/officeDocument/2006/relationships/notesMaster" Target="/ppt/notesMasters/notesMaster1.xml" Id="R9c0b2eb3df744c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034e4f71234636" /><Relationship Type="http://schemas.openxmlformats.org/officeDocument/2006/relationships/notesMaster" Target="/ppt/notesMasters/notesMaster1.xml" Id="R018d7ca6349b4a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3695a42be647b0" /><Relationship Type="http://schemas.openxmlformats.org/officeDocument/2006/relationships/notesMaster" Target="/ppt/notesMasters/notesMaster1.xml" Id="R424a97b944c848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02f12356af45cf" /><Relationship Type="http://schemas.openxmlformats.org/officeDocument/2006/relationships/notesMaster" Target="/ppt/notesMasters/notesMaster1.xml" Id="R65b3ce85d2064b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82a38013ecb45ad" /><Relationship Type="http://schemas.openxmlformats.org/officeDocument/2006/relationships/notesMaster" Target="/ppt/notesMasters/notesMaster1.xml" Id="R05b63fcf141f46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CareRelay MVP design and repository evidence. Simulated records do not represent real bookings or clinical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Ministry of Health and Family Welfare, PMNDP, https://pmndp.mohfw.gov.in/en, accessed 20 October 2026. Its estimates are about 2.2 lakh new ESRD patients and an additional 3.4 crore dialysis sessions annually. National Kidney Foundation, https://www.kidney.org/kidney-topics/hemodialysis, explains that missed treatments can allow fluid, potassium and waste to build up. These figures describe need, not CareRelay adoption or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CareRelay MVP design and repository evidence. Simulated records do not represent real bookings or clinical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CareRelay MVP design and repository evidence. Simulated records do not represent real bookings or clinical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package.json, .openai/hosting.json, README.md, lib/solver.ts and lib/accounts.ts in the CareRelay repository. Stack describes current code, not a proposed vendor migration.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docs/MATCHING-AUDIT.md and lib/solver.ts. The search is bounded by 40,000 nodes or approximately 180 ms after candidate preparation. Discrete candidates do not establish a continuous-time optimum. No superiority claim over another product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product URL: https://carerelay-dialysis-continuity.amplewand1.chatgpt.site/ . Judge demonstration: /judge-demo . The demonstration uses session-isolated fictional records and a simulated scheduling day. It does not grant registered-account access. Source repository remains private as requested by the owner.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CareRelay repository docs/assets/manual-hospital-slots.png. Actual earlier isolated browser walkthrough with fictional records. This is software evidence, not a real patient booking or clinical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docs/assets/demo-arrangements.png. Actual browser walkthrough with fictional test records. Simulated provider agreements are explicitly labelled in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Image: docs/assets/journey-history.png. Actual isolated browser walkthrough with fictional records. Patient-reported milestones remain distinct from provider confirmation. The screenshot does not represent a clinical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verification rerun on 20 October 2026: TypeScript, 91 domain tests, 10 manual-picker tests, and the security/API test suite. Final counts on this slide must match the final run. These are software checks, not a claim of clinical validation, complete security, or absence of all defects.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CareRelay MVP design and repository evidence. Simulated records do not represent real bookings or clinical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Illustration: 1,000 patients × 3 visits weekly × 52 weeks = 156,000 annual visits. Schedule reference: NIDDK, https://www.niddk.nih.gov/health-information/kidney-disease/kidney-failure/choosing-treatment/comparison-chart. Individual prescriptions vary. This is not an adoption forecast or a count of completed or saved appointments. No patient, cost, hospitalisation or lives-saved improvement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Event requirements: supplied Baloon National Hackathon 2026.docx and https://unstop.com/hackathons/baloon-national-hackathon-2026-baloon-1768626 . No official slide-count or branded template was supplied. The four requested sections appear in the prescribed order. No verified past-winner project evidence was found for this specific event, so the deck follows the published evaluation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f84500f5f24a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483f0bf2644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58364a66340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9c5c9c94d242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167c661644be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4a266e68146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829DD6-FAFC-4B7C-BFB1-D9D27F664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2E21B7-E630-4D1D-8605-F47D6E0E00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6503F95-622A-4722-B8AB-3C7CCC44C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1AD6A8-C224-40B2-9E2F-6621883833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D772DF-4806-40E4-A0FB-B569CCFE7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BBB853-4B9A-417D-8A50-07FC111FA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59DADF-2DB2-4881-BFA1-2BA8A2B69A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C0C08D0-A8B0-449E-9450-D7BF361692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F792C6-613D-457B-BA95-4E4EF31AB2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F3128C-8301-4B52-B567-3047978D39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d40f6c9864bce" /><Relationship Type="http://schemas.openxmlformats.org/officeDocument/2006/relationships/slideLayout" Target="/ppt/slideLayouts/slideLayout1.xml" Id="R53c8e8e15e5a49ec" /><Relationship Type="http://schemas.openxmlformats.org/officeDocument/2006/relationships/slideLayout" Target="/ppt/slideLayouts/slideLayout2.xml" Id="Re3498ac02ef64d11" /><Relationship Type="http://schemas.openxmlformats.org/officeDocument/2006/relationships/slideLayout" Target="/ppt/slideLayouts/slideLayout3.xml" Id="R511dd0f800654e94" /><Relationship Type="http://schemas.openxmlformats.org/officeDocument/2006/relationships/slideLayout" Target="/ppt/slideLayouts/slideLayout4.xml" Id="R8bb3a994d3a64860" /><Relationship Type="http://schemas.openxmlformats.org/officeDocument/2006/relationships/slideLayout" Target="/ppt/slideLayouts/slideLayout5.xml" Id="Rc11b8b1650d24abf" /><Relationship Type="http://schemas.openxmlformats.org/officeDocument/2006/relationships/slideLayout" Target="/ppt/slideLayouts/slideLayout6.xml" Id="R92ecf873d8b743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c8e8e15e5a49ec"/>
    <p:sldLayoutId xmlns:r="http://schemas.openxmlformats.org/officeDocument/2006/relationships" id="2147483650" r:id="Re3498ac02ef64d11"/>
    <p:sldLayoutId xmlns:r="http://schemas.openxmlformats.org/officeDocument/2006/relationships" id="2147483651" r:id="R511dd0f800654e94"/>
    <p:sldLayoutId xmlns:r="http://schemas.openxmlformats.org/officeDocument/2006/relationships" id="2147483652" r:id="R8bb3a994d3a64860"/>
    <p:sldLayoutId xmlns:r="http://schemas.openxmlformats.org/officeDocument/2006/relationships" id="2147483653" r:id="Rc11b8b1650d24abf"/>
    <p:sldLayoutId xmlns:r="http://schemas.openxmlformats.org/officeDocument/2006/relationships" id="2147483654" r:id="R92ecf873d8b743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a6499f77d4994" /><Relationship Type="http://schemas.openxmlformats.org/officeDocument/2006/relationships/hyperlink" Target="https://carerelay-dialysis-continuity.amplewand1.chatgpt.site/judge-demo" TargetMode="External" Id="R20eeb3fae16b4ca6" /><Relationship Type="http://schemas.openxmlformats.org/officeDocument/2006/relationships/hyperlink" Target="https://carerelay-dialysis-continuity.amplewand1.chatgpt.site/judge-demo" TargetMode="External" Id="R4d886c34231c4e42" /><Relationship Type="http://schemas.openxmlformats.org/officeDocument/2006/relationships/notesSlide" Target="/ppt/notesSlides/notesSlide1.xml" Id="R1711418772504a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67cab6f2994cf7" /><Relationship Type="http://schemas.openxmlformats.org/officeDocument/2006/relationships/notesSlide" Target="/ppt/notesSlides/notesSlide2.xml" Id="Rcb08e42992b2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982de31d8413d" /><Relationship Type="http://schemas.openxmlformats.org/officeDocument/2006/relationships/notesSlide" Target="/ppt/notesSlides/notesSlide3.xml" Id="Re51ad048b57449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fb092168e44b55" /><Relationship Type="http://schemas.openxmlformats.org/officeDocument/2006/relationships/notesSlide" Target="/ppt/notesSlides/notesSlide4.xml" Id="R9b101122f2ec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2f18e906074b75" /><Relationship Type="http://schemas.openxmlformats.org/officeDocument/2006/relationships/notesSlide" Target="/ppt/notesSlides/notesSlide5.xml" Id="R225a0ae1140c44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a85c3421c4f46" /><Relationship Type="http://schemas.openxmlformats.org/officeDocument/2006/relationships/notesSlide" Target="/ppt/notesSlides/notesSlide6.xml" Id="Re51b1ff261ba4d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014c0040f404f" /><Relationship Type="http://schemas.openxmlformats.org/officeDocument/2006/relationships/hyperlink" Target="https://carerelay-dialysis-continuity.amplewand1.chatgpt.site/judge-demo" TargetMode="External" Id="R14a858e72a7f43da" /><Relationship Type="http://schemas.openxmlformats.org/officeDocument/2006/relationships/hyperlink" Target="https://github.com/Aadithya-Ram/carerelay-dialysis-connect" TargetMode="External" Id="R996016e9942d424b" /><Relationship Type="http://schemas.openxmlformats.org/officeDocument/2006/relationships/notesSlide" Target="/ppt/notesSlides/notesSlide7.xml" Id="R8233601c14e048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f6910670f4108" /><Relationship Type="http://schemas.openxmlformats.org/officeDocument/2006/relationships/image" Target="/ppt/media/image.jpeg" Id="R128039f892b94db2" /><Relationship Type="http://schemas.openxmlformats.org/officeDocument/2006/relationships/notesSlide" Target="/ppt/notesSlides/notesSlide8.xml" Id="R5caabec2fbca46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0bcbcf84b4851" /><Relationship Type="http://schemas.openxmlformats.org/officeDocument/2006/relationships/image" Target="/ppt/media/image2.jpeg" Id="Reb34cd2aa5b64c84" /><Relationship Type="http://schemas.openxmlformats.org/officeDocument/2006/relationships/notesSlide" Target="/ppt/notesSlides/notesSlide9.xml" Id="R77da3748bd9044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ebba30fc554942" /><Relationship Type="http://schemas.openxmlformats.org/officeDocument/2006/relationships/image" Target="/ppt/media/image3.jpeg" Id="R0f20c0fec65c493d" /><Relationship Type="http://schemas.openxmlformats.org/officeDocument/2006/relationships/notesSlide" Target="/ppt/notesSlides/notesSlide10.xml" Id="R488040fae1f64c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ec64650674f5f" /><Relationship Type="http://schemas.openxmlformats.org/officeDocument/2006/relationships/notesSlide" Target="/ppt/notesSlides/notesSlide11.xml" Id="Rd60a7d44c22444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625bd8dabd4b5a" /><Relationship Type="http://schemas.openxmlformats.org/officeDocument/2006/relationships/notesSlide" Target="/ppt/notesSlides/notesSlide12.xml" Id="R35417e16dc7b4c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8217313cc446d" /><Relationship Type="http://schemas.openxmlformats.org/officeDocument/2006/relationships/notesSlide" Target="/ppt/notesSlides/notesSlide13.xml" Id="R8b10636ef4ad44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d40448ef75491f" /><Relationship Type="http://schemas.openxmlformats.org/officeDocument/2006/relationships/notesSlide" Target="/ppt/notesSlides/notesSlide14.xml" Id="Rc6647dfc770346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94A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DD6DE-AA96-4CDB-8488-DCDFD2CA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FE7D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FE7D3"/>
                </a:solidFill>
                <a:latin typeface="Arial"/>
                <a:ea typeface="Arial"/>
                <a:cs typeface="Arial"/>
              </a:rPr>
              <a:t>BALOON NATIONAL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BE59A-27AD-4D2B-90CF-BD5CC210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19225"/>
            <a:ext cx="1104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CareRelay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33128-1B50-4F41-802A-03BCE140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86050"/>
            <a:ext cx="1104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Dialysis care and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transport coordination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04D05-8313-4513-9972-8F0BCC08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39102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FE7D3"/>
                </a:solidFill>
                <a:latin typeface="Arial"/>
                <a:ea typeface="Arial"/>
                <a:cs typeface="Arial"/>
              </a:rPr>
              <a:t>Round 1: PPT &amp; Prototype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24EEC-1DE9-4657-A6A9-1D5B1F5E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57775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  <a:hlinkClick xmlns:r="http://schemas.openxmlformats.org/officeDocument/2006/relationships" r:id="R20eeb3fae16b4ca6"/>
              </a:rPr>
              <a:t>Open the working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49BE6-FD32-4B39-9A6F-8F997B5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50545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FE7D3"/>
                </a:solidFill>
                <a:latin typeface="Arial"/>
                <a:ea typeface="Arial"/>
                <a:cs typeface="Arial"/>
                <a:hlinkClick xmlns:r="http://schemas.openxmlformats.org/officeDocument/2006/relationships" r:id="R4d886c34231c4e42"/>
              </a:rPr>
              <a:t>https://carerelay-dialysis-continuity.amplewand1.chatgpt.site/judge-demo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76C95-2883-4F73-A121-F2E3C19B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1150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FE7D3"/>
                </a:solidFill>
                <a:latin typeface="Arial"/>
                <a:ea typeface="Arial"/>
                <a:cs typeface="Arial"/>
              </a:rPr>
              <a:t>Aadithya Ram</a:t>
            </a:r>
          </a:p>
          <a:p xmlns:a="http://schemas.openxmlformats.org/drawingml/2006/main">
            <a:pPr>
              <a:defRPr sz="1425" b="0">
                <a:solidFill>
                  <a:srgbClr val="DFE7D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FE7D3"/>
                </a:solidFill>
                <a:latin typeface="Arial"/>
                <a:ea typeface="Arial"/>
                <a:cs typeface="Arial"/>
              </a:rPr>
              <a:t>Abhishek Bharathi</a:t>
            </a:r>
          </a:p>
        </p:txBody>
      </p:sp>
    </p:spTree>
    <p:extLst>
      <p:ext uri="{BB962C8B-B14F-4D97-AF65-F5344CB8AC3E}">
        <p14:creationId xmlns:p14="http://schemas.microsoft.com/office/powerpoint/2010/main" val="1841654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000D6-5DE7-468F-9704-EFCEFD2A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Own Problem Statement &amp; 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31A79-2D52-4F35-B21F-FF80EEFC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replacement appointment needs a complete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B8BFD-BC95-4329-BA0B-7855E5F4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Problem statement: help patients reach suitable dialysis when their usual arrangement falls through.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94A3F-B4FC-4964-8A6B-CB1FA08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967C3-FDA8-47B0-8308-9DFA5A47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478E4-30B3-4150-B59B-D1E2CF12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3675"/>
            <a:ext cx="5286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2.2 lakh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F1CF6-EDDB-40B8-B6F1-630DF0D6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new ESRD patients each year in India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67988-F5B1-42C8-8200-259C0D3F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33675"/>
            <a:ext cx="5286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3.4 crore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BB837-7E12-4802-A392-247C563B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952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additional dialysis sessions needed annually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CF72F-0D36-4B7F-9553-027F76C7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5375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missed treatment can allow fluid, potassium and waste to build 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57C46-EF6E-4C89-AC38-C1DF6562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14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Finding a staffed machine is only useful when a suitable journey can reach it in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3D727-8A0B-489B-B898-6D09442D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Sources: MoHFW PMNDP estimates and National Kidney Foundation. Need estimates, not project outcomes.</a:t>
            </a:r>
          </a:p>
        </p:txBody>
      </p:sp>
    </p:spTree>
    <p:extLst>
      <p:ext uri="{BB962C8B-B14F-4D97-AF65-F5344CB8AC3E}">
        <p14:creationId xmlns:p14="http://schemas.microsoft.com/office/powerpoint/2010/main" val="827353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0641F-4BF6-4292-B2B5-24B77CF1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Own Problem Statement &amp; 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41322-CF40-4A43-B27F-0D45E409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One request for treatment, transport or both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15938-DA9E-4CDA-8BBC-C48B3775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coordinates provider capacity and a feasible journey through a human-reviewed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27CC1-BDD9-4569-A1E4-0E85D8C7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C1A34-C7C8-41AF-B1D7-C2D2FAD4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A75C3-C007-49D7-81FF-FF896559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Patient or caregiver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89D4B-6F64-41B7-AB05-ED177542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Registers once, then submits a dated request with a reason, preferred time and accessibility needs.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D259D-C7C5-454C-BCD5-06E33D00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Care coordinator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5486C-2236-445F-867E-3596B1A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Reviews membership separately, verifies request requirements and approves a suitable arrangement.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6B5A6-59E9-40B2-B906-CCA5415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Hospital or dialysis centre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AE3F4-F06B-4705-B8D0-AF260412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Publishes machine identifiers and staffed slots, then accepts the assigned treatment.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1CBA5-5F6E-4F75-A246-C4D2E011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Transport partner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36274-4639-4FF3-84C5-8C4422D5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Reports availability and vehicle suitability, then confirms the pickup and assistance.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691A2-4409-41F9-8090-9A16B23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Target users: people needing replacement dialysis access and the teams helping them reach it.</a:t>
            </a:r>
          </a:p>
        </p:txBody>
      </p:sp>
    </p:spTree>
    <p:extLst>
      <p:ext uri="{BB962C8B-B14F-4D97-AF65-F5344CB8AC3E}">
        <p14:creationId xmlns:p14="http://schemas.microsoft.com/office/powerpoint/2010/main" val="1986866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F418A-83EC-4D01-8080-B14CFF2E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Key Features &amp; 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DBF49-3E76-4531-9DD9-DF6F1EF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The workflow covers the whole care episode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4D490-A52E-4BBA-9255-A9E0079A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Implemented MVP features, demonstrated with fictional accounts and simulated providers.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E0451-59CE-4C5B-9DB9-458EBC3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6D6C9-C934-40B5-AF53-3EACFCFB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A2615-3D32-4196-B3D7-D5CCC429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Clear entry and requests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D2723-A1E4-4FA6-93CB-EA00EA2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Separate membership applications and appointment requests. Treatment only, transport only and combined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E6820-E710-48E3-BD61-5122B094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Capacity and matching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5EBA6-D511-44FA-AD29-D26D6F7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Editable machine slots and vehicle availability. Ranked manual selection, individual suggestions and bulk approval.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BABD9-3ACB-4556-AA8E-49C1692F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Provider handover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3DC56-D1CF-430A-ABA3-776318BC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Exact appointment machine and slot for hospitals. Pickup, contact and accessibility details for drivers.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A7063-841E-4395-B8C2-54B75B46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Follow-through and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2E83AF-197E-41D3-BF41-9D2B519D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Provider confirmations, patient journey milestones, completed history and an authorized shared inbox.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384CE7-F39D-4305-8E49-BE5B4559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Maps support place discovery. Only provider-reported capacity supports an arrangement.</a:t>
            </a:r>
          </a:p>
        </p:txBody>
      </p:sp>
    </p:spTree>
    <p:extLst>
      <p:ext uri="{BB962C8B-B14F-4D97-AF65-F5344CB8AC3E}">
        <p14:creationId xmlns:p14="http://schemas.microsoft.com/office/powerpoint/2010/main" val="12979269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91159-F32F-4BCB-A7A3-1DF0E94C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Key Features &amp; 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742A6-1136-4803-BC9C-9CF608B5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practical web stack with persistent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4098F-4C45-4E2B-96A1-3E820595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The repository contains the application, database migrations, tests and local startup instructions.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4FE72-6DCE-49F2-A8A6-C3D8C58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6DCFA-45EC-4A54-8766-A5481281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58940-1AF8-4DFC-9786-1CF441C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5F3BE-2444-44C4-86D1-0362E8E8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React 19 and TypeScript, Next.js-style routes through Vinext / Vite, Tailwind CSS and responsive navigation.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A52C1-1676-46F7-BC2E-5A36FD7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Server and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14657-0881-4926-84B0-1093B197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Cloudflare Workers, D1 / SQLite and Drizzle migrations, with R2 for private document storage.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42E8E-B5F7-47EB-A513-F0560641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Scheduling and maps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6A054-31E8-402C-B612-D560D40A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 TypeScript constraint search, shared reservation checks, Leaflet and OpenStreetMap-based location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2265DD-1B86-49BB-9279-0294337D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No generative AI makes clinical decisions. The planner coordinates staff-reviewed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126301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DB822-AFA8-496C-A163-EBD0C2B2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Key Features &amp; 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C4D6C-E892-4C9A-A2BC-2719FA30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Eligibility first, preference fit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93DF2-E781-42DE-A808-7B5AAF8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Manual selection and automatic suggestions share the same feasibility and reservation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1A849-B9FE-4715-9870-8C999586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98648-80C4-4E30-A4A6-FFC28A5E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C73AC-6EFD-4C19-8FD9-5D65B509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01  Establish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6AF1A-76D6-40A0-B96D-1EF9D194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Check the active request, staff review, date, treatment capability, accessibility and budget.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4CC73-F13C-4770-AA8C-89C47C8B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02  Test the whole arrangement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5DF29-C6D9-484E-BA0B-57FB5B3D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529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Check staffed machines, treatment and turnaround intervals, suitable transport and reservation conflicts.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BE16B-139F-4746-827B-3B5157E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03  Rank and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10E25-4B20-49C7-ABCD-59D2A718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01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Prefer requested-time fit and nearby centres. For transport, prefer faster pickup access. Admin reviews the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318AF-0DE5-4AF4-B1C0-D390A07D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The bounded bulk search considers coverage and clinical priority. Estimates do not use live traffic.</a:t>
            </a:r>
          </a:p>
        </p:txBody>
      </p:sp>
    </p:spTree>
    <p:extLst>
      <p:ext uri="{BB962C8B-B14F-4D97-AF65-F5344CB8AC3E}">
        <p14:creationId xmlns:p14="http://schemas.microsoft.com/office/powerpoint/2010/main" val="264516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943D5-1CAF-49F5-B17F-987F141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Working Demo / MVP / Interactive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87393-893C-4643-932F-1C77780D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Try the working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05225-B4C9-4647-9537-C208D386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The hosted website is the prototype link. GitHub is the supporting source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C793C-C3C7-4B3C-A542-E53C8BF0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F22D0-4801-4417-B493-AFA12079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0C6CA-6CF8-44D6-98CE-6B2C508B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Judge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D561C-EDAB-4401-81E2-95D91D69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  <a:hlinkClick xmlns:r="http://schemas.openxmlformats.org/officeDocument/2006/relationships" r:id="R14a858e72a7f43da"/>
              </a:rPr>
              <a:t>https://carerelay-dialysis-continuity.amplewand1.chatgpt.site/judge-demo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D77C93-CEB0-4EAA-8DBA-404C9EB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Password: admin@123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6595F-AD66-436D-90F4-01C1CCAF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10953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Six fictional patients, three simulated hospitals and five vehicles.</a:t>
            </a:r>
          </a:p>
          <a:p xmlns:a="http://schemas.openxmlformats.org/drawingml/2006/main"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Each browser session has separate demo records and a simulated scheduling day.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6EF58-81F2-439E-91D2-E9EF2915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Walkthrough: suggest or choose manually, approve, then record provider confirmations.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B4B70-1206-4C12-8C63-9D958DDE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1095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66A"/>
                </a:solidFill>
                <a:latin typeface="Arial"/>
                <a:ea typeface="Arial"/>
                <a:cs typeface="Arial"/>
                <a:hlinkClick xmlns:r="http://schemas.openxmlformats.org/officeDocument/2006/relationships" r:id="R996016e9942d424b"/>
              </a:rPr>
              <a:t>Source: github.com/Aadithya-Ram/carerelay-dialysis-connect</a:t>
            </a:r>
          </a:p>
        </p:txBody>
      </p:sp>
    </p:spTree>
    <p:extLst>
      <p:ext uri="{BB962C8B-B14F-4D97-AF65-F5344CB8AC3E}">
        <p14:creationId xmlns:p14="http://schemas.microsoft.com/office/powerpoint/2010/main" val="1862134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25EA0-9F8B-402A-B8A1-EA43C6D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Working Demo / MVP / Interactive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C698F-CCB8-453E-9826-7F861AEF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Manual selection shows eligible slots and transport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4E870-BF0C-41BC-B163-E5A5F785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 coordinator can compare the available options and approve an exact arrangement.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2705-823B-42FE-917A-59A0C63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9AAC9-154D-4EFB-B700-A175F17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43D40-1D6E-488D-A723-370B626D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Choose a hospital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04B96-3053-4842-9BA0-74D8AC8E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146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Compare eligible centres in preference-fit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642BA-D93B-457F-A45A-B6AFDFC1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Choose the exact slot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637C6-63D4-4BBB-8947-6750A6E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95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Inspect the machine, start time and treatment interval.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DFE2BF-EF90-4EAE-B17A-300590CA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Choose suitable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FAF8AA-FD59-43C0-A4E3-DC0ABC09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244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Only compatible vehicles remain. Approval rechecks availability.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3AE5C-37EC-4B66-93C6-71054315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Actual MVP capture using fictional test records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C8E75-1374-4D66-8877-43C025DFE3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039f892b94db2"/>
          <a:stretch xmlns:a="http://schemas.openxmlformats.org/drawingml/2006/main"/>
        </p:blipFill>
        <p:spPr>
          <a:xfrm xmlns:a="http://schemas.openxmlformats.org/drawingml/2006/main">
            <a:off x="1189567" y="2686050"/>
            <a:ext cx="5926667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857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5806D-8CA8-4B36-A8EE-FD03162C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Working Demo / MVP / Interactive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FCC3C-DFAF-47D8-A924-2A8E1B7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Suggestions still need approval and confirmation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FF9C5-A8AA-4ED0-AEC7-718A4351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The care team can approve one suggestion or a compatible group, then obtain provider agreement.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79CAC-9870-48DB-97D2-AF088EEA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34977-3812-4C6D-A40C-D88F417B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4BB57-F84B-452D-A195-CF312A4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Automatic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2589A-69A4-477E-ACAD-7C0390A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146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Generate suggestions against the same feasibility constraints.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81BD3-149E-4EBB-94A7-CC5BD2B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Individual or bulk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C6DFD-991F-4E2B-B1BA-9D76D3A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95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Approve one plan or the proposed group.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440E0-96AC-4414-8275-CBFD8DD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Explicit agreement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5C433-8830-48F4-B46A-52412AAC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244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Record hospital acceptance and driver confirmation separately.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0E2F2-A1C5-419D-A60B-FD04C68F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Actual MVP capture of simulated arrangements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888B1-2145-4CD4-9EBE-B7A7EB9F8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4cd2aa5b64c84"/>
          <a:stretch xmlns:a="http://schemas.openxmlformats.org/drawingml/2006/main"/>
        </p:blipFill>
        <p:spPr>
          <a:xfrm xmlns:a="http://schemas.openxmlformats.org/drawingml/2006/main">
            <a:off x="1191388" y="2686050"/>
            <a:ext cx="5923025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00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EC06-BC42-4677-A804-B5ABF456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Working Demo / MVP / Interactive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6DF32-0C3A-4AE3-94B5-D4942EC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Completion becomes history, ready for the next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C1DF4-5A76-46D9-9FC0-86322341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Patients can report journey milestones after the necessary provider confirmations.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042E1-A692-46FC-99E1-BE9C6EC7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A03E6-6E2A-4815-9F19-FBCAAB15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EC003-54C7-447F-A074-64E2097D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051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Clear progression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E3BF0-DCBB-47D3-96BB-D0594DF9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146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Departure, arrival and treatment progress follow in 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20663-45F0-48F8-9186-AE3B25B2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closed care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797BE-57FF-4727-9CDF-EF1FF2F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95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Completion clears the active request and retains its snapshot.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942A2B-9335-411A-B121-6BA8DEFB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Help remains 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81AFF-CFA5-4F84-8A6A-E7115E9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244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Authorized conversations retain replies and unread state.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83483-00F0-432B-9BB2-24CEED9B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245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Actual MVP history using a fictional patient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CD3EB-8866-4231-9F02-D7AC761E13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0c0fec65c493d"/>
          <a:stretch xmlns:a="http://schemas.openxmlformats.org/drawingml/2006/main"/>
        </p:blipFill>
        <p:spPr>
          <a:xfrm xmlns:a="http://schemas.openxmlformats.org/drawingml/2006/main">
            <a:off x="1191388" y="2686050"/>
            <a:ext cx="5923025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8638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49438-7E46-4A0A-A862-4474B633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Feasibility &amp; 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B92E5-2A67-43C0-A0D2-3D2B608A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Technical evidence supports the MVP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1AA43-7953-4A8B-9DB0-798A70F7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Automated checks exercise workflow rules and permissions using isolated fictional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E4400-2733-4C8D-9547-A1B69CB3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99D5F-E9FE-4729-9D0F-3689508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0B0AE-002D-4642-B5EF-841322EA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9875"/>
            <a:ext cx="352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91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94361-CF6A-4B4A-9D5B-9A309CE7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Domain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17F82-A091-47C5-994C-0ECCFCA5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Timing, eligibility, completion</a:t>
            </a:r>
          </a:p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and relationship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D1BCF-A3E7-4430-B06C-07900221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9875"/>
            <a:ext cx="352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272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F863F-CE8E-47A0-ACF8-C4C1E439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81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Isolated API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BD069-D360-4AB6-9596-FB868D31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339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Account access, document isolation,</a:t>
            </a:r>
          </a:p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requests and demo boundaries.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70F2D5-CE12-48A9-A60C-ACB6AB73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09875"/>
            <a:ext cx="3524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6863B4-C25D-4DFD-B55D-20DBC4F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Manual-picker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C4D66-1771-40F5-B9D6-0ED1BE5A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339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Exact hospital, slot and vehicle</a:t>
            </a:r>
          </a:p>
          <a:p xmlns:a="http://schemas.openxmlformats.org/drawingml/2006/main">
            <a:pPr>
              <a:defRPr sz="18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selection, plus conflict rejection.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30B5D-4ECD-4909-9E97-D95A9560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4525"/>
            <a:ext cx="1104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TypeScript and production build passed. Checks rerun on 20 October 2026.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90A99-DA14-4FE5-BFD8-00B6A592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6267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Software evidence only. No clinical outcome, certification or absence of every defect is claimed.</a:t>
            </a:r>
          </a:p>
        </p:txBody>
      </p:sp>
    </p:spTree>
    <p:extLst>
      <p:ext uri="{BB962C8B-B14F-4D97-AF65-F5344CB8AC3E}">
        <p14:creationId xmlns:p14="http://schemas.microsoft.com/office/powerpoint/2010/main" val="248196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5A081-0857-4172-8907-F0F61FDA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Feasibility &amp; 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E6BEF-F227-4B58-9150-DA40249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supervised pilot is the feasible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07012-53CA-4F15-8F4C-A65B250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The MVP proves a software workflow. Real operation would depend on participating providers.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BC944-1DB1-4E7E-AA6A-1D4AD338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88FF5-8908-4A23-948D-38399F0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4DFA6-89AD-4CDA-A003-63D42F2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Pilot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7510A-DF30-49AD-8BB0-8EB3609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Start with a small local network, verified facility capacity and named transport partners.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1F1DA-9EAD-4FC4-ACA9-79A42F40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Operational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8F6EE-EEA9-45C7-A30F-BE41A635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Hospitals must keep staffed slots current. Drivers must confirm availability and practical pickup feasibility.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504E0-F299-476E-B523-16C3893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Current technical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83F7E-BDF7-4700-9EC4-3D788086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Travel times are estimates. INR fares and dated intervals have limits, including no overnight scheduling.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29DCA-F16C-4245-B3F0-6E93C73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Before real patient 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67329-9BEE-4441-9174-A1EBE8B2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Complete clinical and privacy reviews, vendor agreements, security assessment and operational escalation procedures.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70A849-59FC-48A1-8987-987AA888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Map coverage alone cannot promise available treatment. The app does not replace emergency care.</a:t>
            </a:r>
          </a:p>
        </p:txBody>
      </p:sp>
    </p:spTree>
    <p:extLst>
      <p:ext uri="{BB962C8B-B14F-4D97-AF65-F5344CB8AC3E}">
        <p14:creationId xmlns:p14="http://schemas.microsoft.com/office/powerpoint/2010/main" val="10342562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1AB6C-E3CF-468E-865F-5386FA42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Feasibility &amp; 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27499-E923-4408-8F1F-C69FAC6C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Potential impact would be measured, not assumed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599B4-FCC6-4221-8912-AEE55C26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The intended benefit is fewer avoidable coordination failures around essential recurring care.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3EA0C-0FB8-4D3B-9D33-2A5A5CEA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84FAC-1182-48D3-B2BE-F6C8DFD7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E7CE7-6D0D-461A-B50C-BC908937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5286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1,000 patients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88FD0-19C1-4135-833D-8CDA48FE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14725"/>
            <a:ext cx="5286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1,56,000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FCAA5-48DA-4024-9218-289B5AD0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3867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annual treatment visits in an illustrative network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29AE3-84CF-49BA-A371-C089AFC0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What a pilot would measure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8EB6F-8074-407C-8B07-4E9972A2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19475"/>
            <a:ext cx="50958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Time to a confirmed arrangement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Unresolved requests and missed pickups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Patient and caregiver coordination burden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9726D5-5489-4AEC-B4CD-179DECBB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Illustration: 1,000 people × 3 visits weekly × 52 weeks. Schedules vary.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6044D-0009-419D-BC8A-8FFA07DC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81725"/>
            <a:ext cx="1104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Not an adoption forecast or a result. No reduction in missed sessions or clinical harm has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9099137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5C28F-811B-4BF3-B136-77AC01E5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66A"/>
                </a:solidFill>
                <a:latin typeface="Arial"/>
                <a:ea typeface="Arial"/>
                <a:cs typeface="Arial"/>
              </a:rPr>
              <a:t>Feasibility &amp; Expected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575CF-6E79-4E96-BEA9-7E2810E5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A focused path for Round 2 and future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802A9-05F1-479D-981F-E461466F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764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Round 2 would extend the submitted MVP against the organisers’ specific development brief.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D26A0-4727-4365-9010-C4A9F289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CareRelay / Baloon National Hackathon 2026 / Round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10E75-3FF7-4293-83A5-5AB2369B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0CE20-0F00-4C43-BA31-F426A20C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Round 2 implementation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9F9D4-3295-4648-AB6B-BFFE7E7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Agree acceptance criteria, implement the assigned improvement, then rerun conflict and permission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4ABAC-704A-4E7A-92E9-B53E04E4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Pilot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6B3DC-64A4-4301-A054-A4117E90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Measure time to a confirmed arrangement, unresolved requests, missed pickups and patient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96F3C-F5F5-4230-8482-4F5001FA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Beyond dialysis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02594-C8F4-4B41-88CA-AF6552A5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Explore chemotherapy, radiotherapy and rehabilitation with service-specific clinical rules.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BAFF9-CFF9-4B33-A8CF-3C871274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Wider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4002-5358-4BA7-9609-CB8AE081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14875"/>
            <a:ext cx="50958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66A"/>
                </a:solidFill>
                <a:latin typeface="Arial"/>
                <a:ea typeface="Arial"/>
                <a:cs typeface="Arial"/>
              </a:rPr>
              <a:t>Add regional languages, caregiver assistance, verified routing and hospital scheduling integrations.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11015-7062-4D11-85EB-0A6BA69A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94A3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A3E"/>
                </a:solidFill>
                <a:latin typeface="Arial"/>
                <a:ea typeface="Arial"/>
                <a:cs typeface="Arial"/>
              </a:rPr>
              <a:t>Prototype and judge-demo links are on slide 7. Source access can be provided to authorised reviewers.</a:t>
            </a:r>
          </a:p>
        </p:txBody>
      </p:sp>
    </p:spTree>
    <p:extLst>
      <p:ext uri="{BB962C8B-B14F-4D97-AF65-F5344CB8AC3E}">
        <p14:creationId xmlns:p14="http://schemas.microsoft.com/office/powerpoint/2010/main" val="2119768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2026-10-20T18:04:58.9400000Z</dcterms:created>
  <dcterms:modified xsi:type="dcterms:W3CDTF">2026-10-20T18:04:58.9400000Z</dcterms:modified>
</coreProperties>
</file>