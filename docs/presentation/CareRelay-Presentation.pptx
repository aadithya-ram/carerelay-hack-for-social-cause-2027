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CareRelay is a human-reviewed coordination prototype. Provider-reported availability requires confirmation. Test accounts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CareRelay v9 and docs/USER-GUIDE.md, docs/MATCHING-AUDIT.md, docs/ROLE-AUDIT.md, docs/VALIDATION.md. Screenshots: isolated test accounts, 11 October 2026. A cancelled session can create several coordination tasks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CareRelay v9 and docs/USER-GUIDE.md, docs/MATCHING-AUDIT.md, docs/ROLE-AUDIT.md, docs/VALIDATION.md. Screenshots: isolated test accounts, 11 October 2026. Each participant confirms the part of the journey they can provide.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CareRelay v9 and docs/USER-GUIDE.md, docs/MATCHING-AUDIT.md, docs/ROLE-AUDIT.md, docs/VALIDATION.md. Screenshots: isolated test accounts, 11 October 2026.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CareRelay v9 and docs/USER-GUIDE.md, docs/MATCHING-AUDIT.md, docs/ROLE-AUDIT.md, docs/VALIDATION.md. Screenshots: isolated test accounts, 11 October 2026.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CareRelay v9 and docs/USER-GUIDE.md, docs/MATCHING-AUDIT.md, docs/ROLE-AUDIT.md, docs/VALIDATION.md. Screenshots: isolated test accounts, 11 October 2026.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CareRelay v9 and docs/USER-GUIDE.md, docs/MATCHING-AUDIT.md, docs/ROLE-AUDIT.md, docs/VALIDATION.md. Screenshots: isolated test accounts, 11 October 2026.  Manual centre choices rank time deviation before straight-line distance. Transport-only ranks vehicle access first. Bulk search maximizes feasible coverage, then urgency and fit. Search bounded at 40,000 nodes / 180 ms after preparation; not an unrestricted real-world optimum. Travel estimates are not live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CareRelay v9 and docs/USER-GUIDE.md, docs/MATCHING-AUDIT.md, docs/ROLE-AUDIT.md, docs/VALIDATION.md. Screenshots: isolated test accounts, 11 October 2026. Approval rechecks reservations, then asks providers to confirm.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CareRelay v9 and docs/USER-GUIDE.md, docs/MATCHING-AUDIT.md, docs/ROLE-AUDIT.md, docs/VALIDATION.md. Screenshots: isolated test accounts, 11 October 2026.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CareRelay v9 and docs/USER-GUIDE.md, docs/MATCHING-AUDIT.md, docs/ROLE-AUDIT.md, docs/VALIDATION.md. Screenshots: isolated test accounts, 11 October 2026.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CareRelay v9 and docs/USER-GUIDE.md, docs/MATCHING-AUDIT.md, docs/ROLE-AUDIT.md, docs/VALIDATION.md. Screenshots: isolated test accounts, 11 October 2026.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CareRelay v9 and docs/USER-GUIDE.md, docs/MATCHING-AUDIT.md, docs/ROLE-AUDIT.md, docs/VALIDATION.md. Screenshots: isolated test accounts, 11 October 2026.  Counts from version 9 audit, not a production certification or universal absence-of-bugs claim. See docs/VALIDATION.md and docs/ROLE-AUDIT.md.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Working prototype. Provider-reported availability; a listing or suggestion is not a confirmed booking. Human clinical review required. No live hospital integration, diagnosis or emergency dispatch. Proposed next steps are not implemented features. Live: https://carerelay-dialysis-continuity.amplewand1.chatgpt.site/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194A801-3D3A-4EE4-9EBE-D3009FCD1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CFEDCA-00F9-4D58-9CF4-99482EEDB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60EED5E-CE80-43AD-B427-BC3E2034A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9EDA078-8E9B-4218-ADD9-7641B7E5A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9079C2F-BE74-4775-87BE-F920B326A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AF944C5-E2D9-4433-9303-E5867FF3A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227E89F-CDDC-4146-A639-9276A57F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FE85A8D-0BA0-4EC3-8E88-B493D76642C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4750BEA-C9AD-4ED6-9E84-6DF3A01C6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F5E593D-AA16-4878-9D38-23B80C0EF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BFD0ED-38C3-418B-AC13-B2FEB1B239D7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DCE5D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DCE5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CE5D1"/>
                </a:solidFill>
                <a:latin typeface="Arial"/>
                <a:ea typeface="Arial"/>
                <a:cs typeface="Arial"/>
              </a:rPr>
              <a:t>CARE, CONNECTED.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B93B4E-8290-4A8E-8DFC-1D5CF5243EED}"/>
              </a:ext>
            </a:extLst>
          </p:cNvPr>
          <p:cNvSpPr>
            <a:spLocks noGrp="1"/>
          </p:cNvSpPr>
          <p:nvPr/>
        </p:nvSpPr>
        <p:spPr>
          <a:xfrm>
            <a:off x="533400" y="1247775"/>
            <a:ext cx="5048250" cy="1095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CareRelay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E71F0B-8054-474C-876F-97D0A894CCA0}"/>
              </a:ext>
            </a:extLst>
          </p:cNvPr>
          <p:cNvSpPr>
            <a:spLocks noGrp="1"/>
          </p:cNvSpPr>
          <p:nvPr/>
        </p:nvSpPr>
        <p:spPr>
          <a:xfrm>
            <a:off x="571500" y="2533650"/>
            <a:ext cx="4953000" cy="1476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Dialysis Care and</a:t>
            </a:r>
          </a:p>
          <a:p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Transport Coordination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484679-6F5A-4D19-83FE-F52F1C889B54}"/>
              </a:ext>
            </a:extLst>
          </p:cNvPr>
          <p:cNvSpPr>
            <a:spLocks noGrp="1"/>
          </p:cNvSpPr>
          <p:nvPr/>
        </p:nvSpPr>
        <p:spPr>
          <a:xfrm>
            <a:off x="571500" y="4267200"/>
            <a:ext cx="4667250" cy="1333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DCE5D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DCE5D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5D1"/>
                </a:solidFill>
                <a:latin typeface="Arial"/>
                <a:ea typeface="Arial"/>
                <a:cs typeface="Arial"/>
              </a:rPr>
              <a:t>One coordinated journey.</a:t>
            </a:r>
          </a:p>
          <a:p>
            <a:pPr>
              <a:defRPr sz="2100" b="0">
                <a:solidFill>
                  <a:srgbClr val="DCE5D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5D1"/>
                </a:solidFill>
                <a:latin typeface="Arial"/>
                <a:ea typeface="Arial"/>
                <a:cs typeface="Arial"/>
              </a:rPr>
              <a:t>Patients, care teams, centres</a:t>
            </a:r>
          </a:p>
          <a:p>
            <a:pPr>
              <a:defRPr sz="2100" b="0">
                <a:solidFill>
                  <a:srgbClr val="DCE5D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5D1"/>
                </a:solidFill>
                <a:latin typeface="Arial"/>
                <a:ea typeface="Arial"/>
                <a:cs typeface="Arial"/>
              </a:rPr>
              <a:t>and transport partners.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9523BD-899D-488D-8BBE-AF3AF552E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0" y="1878703"/>
            <a:ext cx="5762625" cy="32434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D73CC0D-7D82-461C-BD32-96FAB12E0D8E}"/>
              </a:ext>
            </a:extLst>
          </p:cNvPr>
          <p:cNvSpPr>
            <a:spLocks noGrp="1"/>
          </p:cNvSpPr>
          <p:nvPr/>
        </p:nvSpPr>
        <p:spPr>
          <a:xfrm>
            <a:off x="571500" y="6238875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DCE5D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DCE5D1"/>
                </a:solidFill>
                <a:latin typeface="Arial"/>
                <a:ea typeface="Arial"/>
                <a:cs typeface="Arial"/>
              </a:defRPr>
            </a:pPr>
            <a:r>
              <a:rPr lang="en-US" sz="1350" b="0" dirty="0">
                <a:solidFill>
                  <a:srgbClr val="DCE5D1"/>
                </a:solidFill>
                <a:latin typeface="Arial"/>
                <a:ea typeface="Arial"/>
                <a:cs typeface="Arial"/>
              </a:rPr>
              <a:t>Aadithya Ram</a:t>
            </a:r>
            <a:br>
              <a:rPr lang="en-US" sz="1350" b="0" dirty="0">
                <a:solidFill>
                  <a:srgbClr val="DCE5D1"/>
                </a:solidFill>
                <a:latin typeface="Arial"/>
                <a:ea typeface="Arial"/>
                <a:cs typeface="Arial"/>
              </a:rPr>
            </a:br>
            <a:r>
              <a:rPr lang="en-US" sz="1350" b="0">
                <a:solidFill>
                  <a:srgbClr val="DCE5D1"/>
                </a:solidFill>
                <a:latin typeface="Arial"/>
                <a:ea typeface="Arial"/>
                <a:cs typeface="Arial"/>
              </a:rPr>
              <a:t>Abhishek Bharathi</a:t>
            </a:r>
            <a:endParaRPr sz="1350" b="0" dirty="0">
              <a:solidFill>
                <a:srgbClr val="DCE5D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1672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9F54BF2-A076-4DC4-86AB-24413F60A936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 /  THE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E12E74-6CBD-49E5-9823-05968D1CFDD5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111252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An appointment is only part of the journey.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206CD4-90C8-4D26-B028-D7206F084D5A}"/>
              </a:ext>
            </a:extLst>
          </p:cNvPr>
          <p:cNvSpPr>
            <a:spLocks noGrp="1"/>
          </p:cNvSpPr>
          <p:nvPr/>
        </p:nvSpPr>
        <p:spPr>
          <a:xfrm>
            <a:off x="552450" y="1743075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 cancelled session can create several coordination tasks at once.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F246C8-C91D-4B40-B4C6-3CA81B4EFBE4}"/>
              </a:ext>
            </a:extLst>
          </p:cNvPr>
          <p:cNvSpPr>
            <a:spLocks noGrp="1"/>
          </p:cNvSpPr>
          <p:nvPr/>
        </p:nvSpPr>
        <p:spPr>
          <a:xfrm>
            <a:off x="533400" y="6467475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· Project presentation · Test accounts shown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A06B21-61C9-4BCC-A030-9B1A607B2426}"/>
              </a:ext>
            </a:extLst>
          </p:cNvPr>
          <p:cNvSpPr>
            <a:spLocks noGrp="1"/>
          </p:cNvSpPr>
          <p:nvPr/>
        </p:nvSpPr>
        <p:spPr>
          <a:xfrm>
            <a:off x="11334750" y="646747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0F3F23-3066-4476-98CF-37991BEA716D}"/>
              </a:ext>
            </a:extLst>
          </p:cNvPr>
          <p:cNvSpPr>
            <a:spLocks noGrp="1"/>
          </p:cNvSpPr>
          <p:nvPr/>
        </p:nvSpPr>
        <p:spPr>
          <a:xfrm>
            <a:off x="571500" y="2495550"/>
            <a:ext cx="5095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01  Find suitable treatment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35C4FE-E453-40B4-869C-DE3D501BF98B}"/>
              </a:ext>
            </a:extLst>
          </p:cNvPr>
          <p:cNvSpPr>
            <a:spLocks noGrp="1"/>
          </p:cNvSpPr>
          <p:nvPr/>
        </p:nvSpPr>
        <p:spPr>
          <a:xfrm>
            <a:off x="571500" y="3048000"/>
            <a:ext cx="509587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 nearby listing does not reveal staffed machine capacity.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E2B08F-28A0-4162-8347-70C771A39114}"/>
              </a:ext>
            </a:extLst>
          </p:cNvPr>
          <p:cNvSpPr>
            <a:spLocks noGrp="1"/>
          </p:cNvSpPr>
          <p:nvPr/>
        </p:nvSpPr>
        <p:spPr>
          <a:xfrm>
            <a:off x="571500" y="3695700"/>
            <a:ext cx="5095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02  Arrange accessible travel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1A2C5-155A-44A2-B301-330C88EDFAE5}"/>
              </a:ext>
            </a:extLst>
          </p:cNvPr>
          <p:cNvSpPr>
            <a:spLocks noGrp="1"/>
          </p:cNvSpPr>
          <p:nvPr/>
        </p:nvSpPr>
        <p:spPr>
          <a:xfrm>
            <a:off x="571500" y="4248150"/>
            <a:ext cx="509587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Boarding help, wheelchair space and a caregiver seat matter.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B8D865-8912-48B1-BA7F-16C3F19AEF0A}"/>
              </a:ext>
            </a:extLst>
          </p:cNvPr>
          <p:cNvSpPr>
            <a:spLocks noGrp="1"/>
          </p:cNvSpPr>
          <p:nvPr/>
        </p:nvSpPr>
        <p:spPr>
          <a:xfrm>
            <a:off x="571500" y="4895850"/>
            <a:ext cx="5095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03  Align the whole schedule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A46EBC-20EF-4E62-A5B7-6C553EE52A3A}"/>
              </a:ext>
            </a:extLst>
          </p:cNvPr>
          <p:cNvSpPr>
            <a:spLocks noGrp="1"/>
          </p:cNvSpPr>
          <p:nvPr/>
        </p:nvSpPr>
        <p:spPr>
          <a:xfrm>
            <a:off x="571500" y="5448300"/>
            <a:ext cx="509587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Treatment, pickup, staffing and provider agreement must fit.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3502B9-AB0D-4ADA-8763-C5B41727A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38875" y="2581237"/>
            <a:ext cx="5381625" cy="30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513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10FF1B9-2FCC-4B54-B14E-EBAAF3DB5D00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 /  THE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0F795E-5218-49F3-A597-AC4BFEF2B5EC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111252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Four roles. One shared care process.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21FEFC-8D20-4129-9545-AE305AF35332}"/>
              </a:ext>
            </a:extLst>
          </p:cNvPr>
          <p:cNvSpPr>
            <a:spLocks noGrp="1"/>
          </p:cNvSpPr>
          <p:nvPr/>
        </p:nvSpPr>
        <p:spPr>
          <a:xfrm>
            <a:off x="552450" y="1743075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Each participant confirms the part of the journey they can provide.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9C8EA8-1852-4299-92E4-3409F70DF0B8}"/>
              </a:ext>
            </a:extLst>
          </p:cNvPr>
          <p:cNvSpPr>
            <a:spLocks noGrp="1"/>
          </p:cNvSpPr>
          <p:nvPr/>
        </p:nvSpPr>
        <p:spPr>
          <a:xfrm>
            <a:off x="533400" y="6467475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· Project presentation · Test accounts shown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696D1E-63DF-400A-9AEC-3E4E850919CB}"/>
              </a:ext>
            </a:extLst>
          </p:cNvPr>
          <p:cNvSpPr>
            <a:spLocks noGrp="1"/>
          </p:cNvSpPr>
          <p:nvPr/>
        </p:nvSpPr>
        <p:spPr>
          <a:xfrm>
            <a:off x="11334750" y="646747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94A399-DF74-4453-9D29-1AEAF2419106}"/>
              </a:ext>
            </a:extLst>
          </p:cNvPr>
          <p:cNvSpPr>
            <a:spLocks noGrp="1"/>
          </p:cNvSpPr>
          <p:nvPr/>
        </p:nvSpPr>
        <p:spPr>
          <a:xfrm>
            <a:off x="571500" y="2609850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Patient / caregiver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42F8F1-1134-43E5-AA0B-20ACDDC86338}"/>
              </a:ext>
            </a:extLst>
          </p:cNvPr>
          <p:cNvSpPr>
            <a:spLocks noGrp="1"/>
          </p:cNvSpPr>
          <p:nvPr/>
        </p:nvSpPr>
        <p:spPr>
          <a:xfrm>
            <a:off x="571500" y="3162300"/>
            <a:ext cx="514350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Register once. Request treatment, transport or both.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D05089-67DE-4A4A-88A5-09A5021A21CD}"/>
              </a:ext>
            </a:extLst>
          </p:cNvPr>
          <p:cNvSpPr>
            <a:spLocks noGrp="1"/>
          </p:cNvSpPr>
          <p:nvPr/>
        </p:nvSpPr>
        <p:spPr>
          <a:xfrm>
            <a:off x="571500" y="4210050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Care team / admin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0EF23A-2605-4638-A1C6-0B003E2B57ED}"/>
              </a:ext>
            </a:extLst>
          </p:cNvPr>
          <p:cNvSpPr>
            <a:spLocks noGrp="1"/>
          </p:cNvSpPr>
          <p:nvPr/>
        </p:nvSpPr>
        <p:spPr>
          <a:xfrm>
            <a:off x="571500" y="4762500"/>
            <a:ext cx="514350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Review membership, verify needs and approve suitable plans.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670426-B2AD-43FC-ACA2-E21228FC9E84}"/>
              </a:ext>
            </a:extLst>
          </p:cNvPr>
          <p:cNvSpPr>
            <a:spLocks noGrp="1"/>
          </p:cNvSpPr>
          <p:nvPr/>
        </p:nvSpPr>
        <p:spPr>
          <a:xfrm>
            <a:off x="6305550" y="2609850"/>
            <a:ext cx="52197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Hospital / dialysis centre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700995-F015-484B-ADDE-11DE0C3338CA}"/>
              </a:ext>
            </a:extLst>
          </p:cNvPr>
          <p:cNvSpPr>
            <a:spLocks noGrp="1"/>
          </p:cNvSpPr>
          <p:nvPr/>
        </p:nvSpPr>
        <p:spPr>
          <a:xfrm>
            <a:off x="6305550" y="3162300"/>
            <a:ext cx="521970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Submit documents. Report readiness and staffed machine slots.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33798C-761B-43E4-A9D0-129C87F90648}"/>
              </a:ext>
            </a:extLst>
          </p:cNvPr>
          <p:cNvSpPr>
            <a:spLocks noGrp="1"/>
          </p:cNvSpPr>
          <p:nvPr/>
        </p:nvSpPr>
        <p:spPr>
          <a:xfrm>
            <a:off x="6305550" y="4210050"/>
            <a:ext cx="52197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Transport partner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BE3ED0-F201-4242-B00E-3B7C9FF36301}"/>
              </a:ext>
            </a:extLst>
          </p:cNvPr>
          <p:cNvSpPr>
            <a:spLocks noGrp="1"/>
          </p:cNvSpPr>
          <p:nvPr/>
        </p:nvSpPr>
        <p:spPr>
          <a:xfrm>
            <a:off x="6305550" y="4762500"/>
            <a:ext cx="521970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Report dated availability, vehicle suitability and fares; confirm trips.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954474-6A4A-41B5-923A-C256AD82DAF1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The planner suggests. People review and confirm.</a:t>
            </a:r>
          </a:p>
        </p:txBody>
      </p:sp>
    </p:spTree>
    <p:extLst>
      <p:ext uri="{BB962C8B-B14F-4D97-AF65-F5344CB8AC3E}">
        <p14:creationId xmlns:p14="http://schemas.microsoft.com/office/powerpoint/2010/main" val="318200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F6511-5AF8-4024-9589-BA35C5EEC320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 /  THE CORRECT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E62BBE-72FC-4A0C-B6B4-2D8B3F2BC1AF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111252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Membership first. Appointment requests separately.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58EBB9-B977-48DA-82F5-4C2B89FD1080}"/>
              </a:ext>
            </a:extLst>
          </p:cNvPr>
          <p:cNvSpPr>
            <a:spLocks noGrp="1"/>
          </p:cNvSpPr>
          <p:nvPr/>
        </p:nvSpPr>
        <p:spPr>
          <a:xfrm>
            <a:off x="533400" y="6467475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· Project presentation · Test accounts shown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EA3AD5-07D8-4BC2-BE65-63DDF43D7CCD}"/>
              </a:ext>
            </a:extLst>
          </p:cNvPr>
          <p:cNvSpPr>
            <a:spLocks noGrp="1"/>
          </p:cNvSpPr>
          <p:nvPr/>
        </p:nvSpPr>
        <p:spPr>
          <a:xfrm>
            <a:off x="11334750" y="646747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93B87D-152D-4523-92B7-E9A52C1541CE}"/>
              </a:ext>
            </a:extLst>
          </p:cNvPr>
          <p:cNvSpPr>
            <a:spLocks noGrp="1"/>
          </p:cNvSpPr>
          <p:nvPr/>
        </p:nvSpPr>
        <p:spPr>
          <a:xfrm>
            <a:off x="571500" y="2019300"/>
            <a:ext cx="5191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1  Apply to join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477373-19D4-45BC-9797-DBC1EDBDAF64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519112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Registration enters patient applications.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284FF-02FD-418A-B0ED-3B8450ACF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8623" y="3152775"/>
            <a:ext cx="5076879" cy="2857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D811621-5139-4F33-9C09-899C00EA610A}"/>
              </a:ext>
            </a:extLst>
          </p:cNvPr>
          <p:cNvSpPr>
            <a:spLocks noGrp="1"/>
          </p:cNvSpPr>
          <p:nvPr/>
        </p:nvSpPr>
        <p:spPr>
          <a:xfrm>
            <a:off x="6267450" y="2019300"/>
            <a:ext cx="5191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2  Request care when needed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BAE7A8-063F-49CC-8ADA-7795B7E40013}"/>
              </a:ext>
            </a:extLst>
          </p:cNvPr>
          <p:cNvSpPr>
            <a:spLocks noGrp="1"/>
          </p:cNvSpPr>
          <p:nvPr/>
        </p:nvSpPr>
        <p:spPr>
          <a:xfrm>
            <a:off x="6267450" y="2476500"/>
            <a:ext cx="519112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Only active dated requests enter the care desk.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D41EB8-F4D6-4E4E-B2F9-9DD8B8E72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24573" y="3152775"/>
            <a:ext cx="5076879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66838F2-61DF-4168-AB4F-DEE897A46C3D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 /  PATIENT EXPERIENCE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8F1203-EA12-484D-A3C9-047252DD6FC2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111252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Tell the team what you need, and when.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02FF42-DA3B-4446-AB27-A8081384C906}"/>
              </a:ext>
            </a:extLst>
          </p:cNvPr>
          <p:cNvSpPr>
            <a:spLocks noGrp="1"/>
          </p:cNvSpPr>
          <p:nvPr/>
        </p:nvSpPr>
        <p:spPr>
          <a:xfrm>
            <a:off x="533400" y="6467475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· Project presentation · Test accounts shown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9C7B9D-5562-4F77-97BD-C21F116E6A28}"/>
              </a:ext>
            </a:extLst>
          </p:cNvPr>
          <p:cNvSpPr>
            <a:spLocks noGrp="1"/>
          </p:cNvSpPr>
          <p:nvPr/>
        </p:nvSpPr>
        <p:spPr>
          <a:xfrm>
            <a:off x="11334750" y="646747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F7EA98-35A4-4967-901D-F855CD2C77A0}"/>
              </a:ext>
            </a:extLst>
          </p:cNvPr>
          <p:cNvSpPr>
            <a:spLocks noGrp="1"/>
          </p:cNvSpPr>
          <p:nvPr/>
        </p:nvSpPr>
        <p:spPr>
          <a:xfrm>
            <a:off x="571500" y="2047875"/>
            <a:ext cx="3190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Choose services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D39B76-E17F-4EA3-9762-A11F1BF258D5}"/>
              </a:ext>
            </a:extLst>
          </p:cNvPr>
          <p:cNvSpPr>
            <a:spLocks noGrp="1"/>
          </p:cNvSpPr>
          <p:nvPr/>
        </p:nvSpPr>
        <p:spPr>
          <a:xfrm>
            <a:off x="571500" y="2600325"/>
            <a:ext cx="319087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Dialysis centre / machine, transport only, or both.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CC6C43-6442-4505-AE5E-E3D6723A1044}"/>
              </a:ext>
            </a:extLst>
          </p:cNvPr>
          <p:cNvSpPr>
            <a:spLocks noGrp="1"/>
          </p:cNvSpPr>
          <p:nvPr/>
        </p:nvSpPr>
        <p:spPr>
          <a:xfrm>
            <a:off x="571500" y="3371850"/>
            <a:ext cx="3190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Give the context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03C9D-2EE8-4B58-9CAA-15C72E65517C}"/>
              </a:ext>
            </a:extLst>
          </p:cNvPr>
          <p:cNvSpPr>
            <a:spLocks noGrp="1"/>
          </p:cNvSpPr>
          <p:nvPr/>
        </p:nvSpPr>
        <p:spPr>
          <a:xfrm>
            <a:off x="571500" y="3924300"/>
            <a:ext cx="319087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Reason, date, timezone and preferred time.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C5A7EA-BC5F-4A3B-88AA-1ECE4ED8AF82}"/>
              </a:ext>
            </a:extLst>
          </p:cNvPr>
          <p:cNvSpPr>
            <a:spLocks noGrp="1"/>
          </p:cNvSpPr>
          <p:nvPr/>
        </p:nvSpPr>
        <p:spPr>
          <a:xfrm>
            <a:off x="571500" y="4695825"/>
            <a:ext cx="3190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Set a time window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A04F40-158E-4178-9437-50751D82694C}"/>
              </a:ext>
            </a:extLst>
          </p:cNvPr>
          <p:cNvSpPr>
            <a:spLocks noGrp="1"/>
          </p:cNvSpPr>
          <p:nvPr/>
        </p:nvSpPr>
        <p:spPr>
          <a:xfrm>
            <a:off x="571500" y="5248275"/>
            <a:ext cx="319087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Earliest start and finish / arrival deadline.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A1FE6D-D30E-4433-A910-8358C6A1C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8159" y="2047875"/>
            <a:ext cx="7699932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51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A9DC9D-9783-47EC-B1EE-9EC9301E95E5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 /  PROVIDER AVAILABILITY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CE1BC8-CB8E-49AC-A4EC-38F85D5E2385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111252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Availability comes from participating providers.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CF16AD-C64F-4C05-9B62-055AD27584C0}"/>
              </a:ext>
            </a:extLst>
          </p:cNvPr>
          <p:cNvSpPr>
            <a:spLocks noGrp="1"/>
          </p:cNvSpPr>
          <p:nvPr/>
        </p:nvSpPr>
        <p:spPr>
          <a:xfrm>
            <a:off x="533400" y="6467475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· Project presentation · Test accounts shown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7029A7-7557-4F1E-8868-54D7F5EF7105}"/>
              </a:ext>
            </a:extLst>
          </p:cNvPr>
          <p:cNvSpPr>
            <a:spLocks noGrp="1"/>
          </p:cNvSpPr>
          <p:nvPr/>
        </p:nvSpPr>
        <p:spPr>
          <a:xfrm>
            <a:off x="11334750" y="646747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3FFB61-D0A6-4200-AE8F-CD33F95A5F5D}"/>
              </a:ext>
            </a:extLst>
          </p:cNvPr>
          <p:cNvSpPr>
            <a:spLocks noGrp="1"/>
          </p:cNvSpPr>
          <p:nvPr/>
        </p:nvSpPr>
        <p:spPr>
          <a:xfrm>
            <a:off x="571500" y="1971675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Hospitals report readiness, staff capacity and dated machine intervals.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86582A-BA80-4C5A-97DE-117F8321E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4873" y="2771775"/>
            <a:ext cx="6092254" cy="3429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6BBAF4C-EF9F-4EFC-B8E3-0FFF9F2EBC6A}"/>
              </a:ext>
            </a:extLst>
          </p:cNvPr>
          <p:cNvSpPr>
            <a:spLocks noGrp="1"/>
          </p:cNvSpPr>
          <p:nvPr/>
        </p:nvSpPr>
        <p:spPr>
          <a:xfrm>
            <a:off x="8143875" y="275272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Suitable treatment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4A06B6-B3DF-42A2-9F30-663938864450}"/>
              </a:ext>
            </a:extLst>
          </p:cNvPr>
          <p:cNvSpPr>
            <a:spLocks noGrp="1"/>
          </p:cNvSpPr>
          <p:nvPr/>
        </p:nvSpPr>
        <p:spPr>
          <a:xfrm>
            <a:off x="8143875" y="3305175"/>
            <a:ext cx="338137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Capability, accessible route, duration and turnaround.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00CF64-365C-43FD-9318-CA1D461D8F3D}"/>
              </a:ext>
            </a:extLst>
          </p:cNvPr>
          <p:cNvSpPr>
            <a:spLocks noGrp="1"/>
          </p:cNvSpPr>
          <p:nvPr/>
        </p:nvSpPr>
        <p:spPr>
          <a:xfrm>
            <a:off x="8143875" y="43719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Suitable transport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8B97DD-2B2E-4353-BA22-F5A93F25149F}"/>
              </a:ext>
            </a:extLst>
          </p:cNvPr>
          <p:cNvSpPr>
            <a:spLocks noGrp="1"/>
          </p:cNvSpPr>
          <p:nvPr/>
        </p:nvSpPr>
        <p:spPr>
          <a:xfrm>
            <a:off x="8143875" y="4924425"/>
            <a:ext cx="338137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Date, hours, vehicle type, assistance, seats and payment.</a:t>
            </a:r>
          </a:p>
        </p:txBody>
      </p:sp>
    </p:spTree>
    <p:extLst>
      <p:ext uri="{BB962C8B-B14F-4D97-AF65-F5344CB8AC3E}">
        <p14:creationId xmlns:p14="http://schemas.microsoft.com/office/powerpoint/2010/main" val="1046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C97C33E-62BB-4AC6-9888-6A47C28A4DDC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 /  MATCHING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EF5F43-0CD7-44EC-B15F-DE63B2D37F05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111252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Eligible first. Preferred time and proximity next.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00EE4E-35E7-4C9D-A6D9-9ABCA4C28D15}"/>
              </a:ext>
            </a:extLst>
          </p:cNvPr>
          <p:cNvSpPr>
            <a:spLocks noGrp="1"/>
          </p:cNvSpPr>
          <p:nvPr/>
        </p:nvSpPr>
        <p:spPr>
          <a:xfrm>
            <a:off x="533400" y="6467475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· Project presentation · Test accounts shown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CA2622-144F-4FE5-8BB4-68F74BD63ED4}"/>
              </a:ext>
            </a:extLst>
          </p:cNvPr>
          <p:cNvSpPr>
            <a:spLocks noGrp="1"/>
          </p:cNvSpPr>
          <p:nvPr/>
        </p:nvSpPr>
        <p:spPr>
          <a:xfrm>
            <a:off x="11334750" y="646747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FAEDA5-84CD-462F-8C79-E9AAECCF524C}"/>
              </a:ext>
            </a:extLst>
          </p:cNvPr>
          <p:cNvSpPr>
            <a:spLocks noGrp="1"/>
          </p:cNvSpPr>
          <p:nvPr/>
        </p:nvSpPr>
        <p:spPr>
          <a:xfrm>
            <a:off x="571500" y="2009775"/>
            <a:ext cx="5286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1  Apply hard constraints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4B6992-55DB-43DA-BA2A-DB66411FF88F}"/>
              </a:ext>
            </a:extLst>
          </p:cNvPr>
          <p:cNvSpPr>
            <a:spLocks noGrp="1"/>
          </p:cNvSpPr>
          <p:nvPr/>
        </p:nvSpPr>
        <p:spPr>
          <a:xfrm>
            <a:off x="571500" y="2562225"/>
            <a:ext cx="528637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Approved membership, verified needs, consent, date and timezone.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8E2FFE-8370-41CD-AFBD-6DEE429BCBC5}"/>
              </a:ext>
            </a:extLst>
          </p:cNvPr>
          <p:cNvSpPr>
            <a:spLocks noGrp="1"/>
          </p:cNvSpPr>
          <p:nvPr/>
        </p:nvSpPr>
        <p:spPr>
          <a:xfrm>
            <a:off x="571500" y="3390900"/>
            <a:ext cx="5286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2  Check compatible resources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919D65-BD36-4A7E-8DB4-AAC56747317B}"/>
              </a:ext>
            </a:extLst>
          </p:cNvPr>
          <p:cNvSpPr>
            <a:spLocks noGrp="1"/>
          </p:cNvSpPr>
          <p:nvPr/>
        </p:nvSpPr>
        <p:spPr>
          <a:xfrm>
            <a:off x="571500" y="3943350"/>
            <a:ext cx="528637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Staffing, machines, accessibility, travel, budget and overlaps.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3A4A6F-77DD-4791-9051-F54856F10A4D}"/>
              </a:ext>
            </a:extLst>
          </p:cNvPr>
          <p:cNvSpPr>
            <a:spLocks noGrp="1"/>
          </p:cNvSpPr>
          <p:nvPr/>
        </p:nvSpPr>
        <p:spPr>
          <a:xfrm>
            <a:off x="571500" y="4772025"/>
            <a:ext cx="5286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3  Rank feasible choices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A6B4AF-AAA7-46CC-96A3-84AD82A54449}"/>
              </a:ext>
            </a:extLst>
          </p:cNvPr>
          <p:cNvSpPr>
            <a:spLocks noGrp="1"/>
          </p:cNvSpPr>
          <p:nvPr/>
        </p:nvSpPr>
        <p:spPr>
          <a:xfrm>
            <a:off x="571500" y="5324475"/>
            <a:ext cx="528637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Preferred-time fit, centre distance, vehicle access and fare.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BADCF2-3D1F-49BD-BF39-D36107042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81725" y="2311598"/>
            <a:ext cx="5429250" cy="305395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87EE570-0D44-4F80-B6C9-785410D627D7}"/>
              </a:ext>
            </a:extLst>
          </p:cNvPr>
          <p:cNvSpPr>
            <a:spLocks noGrp="1"/>
          </p:cNvSpPr>
          <p:nvPr/>
        </p:nvSpPr>
        <p:spPr>
          <a:xfrm>
            <a:off x="6200775" y="5753100"/>
            <a:ext cx="5334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Bulk planning uses a bounded search for coverage, priority and preference fit.</a:t>
            </a:r>
          </a:p>
        </p:txBody>
      </p:sp>
    </p:spTree>
    <p:extLst>
      <p:ext uri="{BB962C8B-B14F-4D97-AF65-F5344CB8AC3E}">
        <p14:creationId xmlns:p14="http://schemas.microsoft.com/office/powerpoint/2010/main" val="58462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1EB7506-BA36-411B-9A24-0CF6C74CFB8E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 /  ADMIN CONTROL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FBAF00-8B8A-41BA-893B-13F52847A316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111252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Review suggestions. Approve one or the whole plan.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0901FA-0653-497B-B6ED-14EB4FBF6C82}"/>
              </a:ext>
            </a:extLst>
          </p:cNvPr>
          <p:cNvSpPr>
            <a:spLocks noGrp="1"/>
          </p:cNvSpPr>
          <p:nvPr/>
        </p:nvSpPr>
        <p:spPr>
          <a:xfrm>
            <a:off x="552450" y="1743075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Approval rechecks reservations, then asks providers to confirm.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FD3AF5-53B7-43F3-A60F-347034DD08AC}"/>
              </a:ext>
            </a:extLst>
          </p:cNvPr>
          <p:cNvSpPr>
            <a:spLocks noGrp="1"/>
          </p:cNvSpPr>
          <p:nvPr/>
        </p:nvSpPr>
        <p:spPr>
          <a:xfrm>
            <a:off x="533400" y="6467475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· Project presentation · Test accounts shown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CAD62D-7A03-41BD-9A82-549BC7BD5140}"/>
              </a:ext>
            </a:extLst>
          </p:cNvPr>
          <p:cNvSpPr>
            <a:spLocks noGrp="1"/>
          </p:cNvSpPr>
          <p:nvPr/>
        </p:nvSpPr>
        <p:spPr>
          <a:xfrm>
            <a:off x="11334750" y="646747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C808DA-F5A3-4974-9158-18B39BBEB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175" y="2333625"/>
            <a:ext cx="6938401" cy="3905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294F624-5C21-453B-9653-F534D1B73501}"/>
              </a:ext>
            </a:extLst>
          </p:cNvPr>
          <p:cNvSpPr>
            <a:spLocks noGrp="1"/>
          </p:cNvSpPr>
          <p:nvPr/>
        </p:nvSpPr>
        <p:spPr>
          <a:xfrm>
            <a:off x="8801100" y="2352675"/>
            <a:ext cx="28003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Individual approval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D2AD73-3908-4F09-82AC-A706508A3389}"/>
              </a:ext>
            </a:extLst>
          </p:cNvPr>
          <p:cNvSpPr>
            <a:spLocks noGrp="1"/>
          </p:cNvSpPr>
          <p:nvPr/>
        </p:nvSpPr>
        <p:spPr>
          <a:xfrm>
            <a:off x="8801100" y="2905125"/>
            <a:ext cx="280035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Accept a suggestion for one patient.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4BD24F-695E-4002-8675-83D2A9EE7E6B}"/>
              </a:ext>
            </a:extLst>
          </p:cNvPr>
          <p:cNvSpPr>
            <a:spLocks noGrp="1"/>
          </p:cNvSpPr>
          <p:nvPr/>
        </p:nvSpPr>
        <p:spPr>
          <a:xfrm>
            <a:off x="8801100" y="3648075"/>
            <a:ext cx="28003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Bulk approval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60D7B-618B-4CD7-A365-B8DDFB0B6B15}"/>
              </a:ext>
            </a:extLst>
          </p:cNvPr>
          <p:cNvSpPr>
            <a:spLocks noGrp="1"/>
          </p:cNvSpPr>
          <p:nvPr/>
        </p:nvSpPr>
        <p:spPr>
          <a:xfrm>
            <a:off x="8801100" y="4200525"/>
            <a:ext cx="280035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Approve compatible suggestions together.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7649B2-B673-4D37-B14E-E8032A165587}"/>
              </a:ext>
            </a:extLst>
          </p:cNvPr>
          <p:cNvSpPr>
            <a:spLocks noGrp="1"/>
          </p:cNvSpPr>
          <p:nvPr/>
        </p:nvSpPr>
        <p:spPr>
          <a:xfrm>
            <a:off x="8801100" y="4943475"/>
            <a:ext cx="28003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Manual choice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428317-AF2C-4242-805D-22DC6CCAA3DA}"/>
              </a:ext>
            </a:extLst>
          </p:cNvPr>
          <p:cNvSpPr>
            <a:spLocks noGrp="1"/>
          </p:cNvSpPr>
          <p:nvPr/>
        </p:nvSpPr>
        <p:spPr>
          <a:xfrm>
            <a:off x="8801100" y="5495925"/>
            <a:ext cx="280035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Compare eligible options and choose an arrangement.</a:t>
            </a:r>
          </a:p>
        </p:txBody>
      </p:sp>
    </p:spTree>
    <p:extLst>
      <p:ext uri="{BB962C8B-B14F-4D97-AF65-F5344CB8AC3E}">
        <p14:creationId xmlns:p14="http://schemas.microsoft.com/office/powerpoint/2010/main" val="762670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DCEF07-CB7D-4118-932A-E373B57142FD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 /  PROVIDER CONFIRMATION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58B44D-E3D6-478F-8508-D15871A4AC03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111252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A proposed arrangement still needs agreement.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5692FC-C0BB-4811-B047-B535651B7C20}"/>
              </a:ext>
            </a:extLst>
          </p:cNvPr>
          <p:cNvSpPr>
            <a:spLocks noGrp="1"/>
          </p:cNvSpPr>
          <p:nvPr/>
        </p:nvSpPr>
        <p:spPr>
          <a:xfrm>
            <a:off x="533400" y="6467475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· Project presentation · Test accounts shown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CAFE2E-F84D-45CC-A75F-06C98D42E6A6}"/>
              </a:ext>
            </a:extLst>
          </p:cNvPr>
          <p:cNvSpPr>
            <a:spLocks noGrp="1"/>
          </p:cNvSpPr>
          <p:nvPr/>
        </p:nvSpPr>
        <p:spPr>
          <a:xfrm>
            <a:off x="11334750" y="646747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711CD9-51BA-49D9-91FA-776D246D4B1F}"/>
              </a:ext>
            </a:extLst>
          </p:cNvPr>
          <p:cNvSpPr>
            <a:spLocks noGrp="1"/>
          </p:cNvSpPr>
          <p:nvPr/>
        </p:nvSpPr>
        <p:spPr>
          <a:xfrm>
            <a:off x="571500" y="2047875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Hospital accepts the treatment slot.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107F9E-ABDA-4CA0-AF3E-119BE4B44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707171"/>
            <a:ext cx="5238750" cy="29486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91C4485-D783-4F7E-93D1-5511455A4C76}"/>
              </a:ext>
            </a:extLst>
          </p:cNvPr>
          <p:cNvSpPr>
            <a:spLocks noGrp="1"/>
          </p:cNvSpPr>
          <p:nvPr/>
        </p:nvSpPr>
        <p:spPr>
          <a:xfrm>
            <a:off x="6276975" y="2047875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Driver confirms the assigned trip.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42A258-BB80-44B0-8091-CC41CCE50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76975" y="2707171"/>
            <a:ext cx="5238750" cy="294860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6B36477-EA6C-4E9B-96F0-1D2A0F15DFFA}"/>
              </a:ext>
            </a:extLst>
          </p:cNvPr>
          <p:cNvSpPr>
            <a:spLocks noGrp="1"/>
          </p:cNvSpPr>
          <p:nvPr/>
        </p:nvSpPr>
        <p:spPr>
          <a:xfrm>
            <a:off x="571500" y="59436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Treatment-only follows the centre flow. Transport-only follows the driver flow.</a:t>
            </a:r>
          </a:p>
        </p:txBody>
      </p:sp>
    </p:spTree>
    <p:extLst>
      <p:ext uri="{BB962C8B-B14F-4D97-AF65-F5344CB8AC3E}">
        <p14:creationId xmlns:p14="http://schemas.microsoft.com/office/powerpoint/2010/main" val="65424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3A1FF3F-D21E-46D3-9F40-6B548DE4E6EF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 /  PATIENT VISIBILITY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3964A2-DE16-48E2-8FF6-F86D5A7F7508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111252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The next step stays visible to the patient.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014209-19DC-4741-B9C7-55E3D33F36FC}"/>
              </a:ext>
            </a:extLst>
          </p:cNvPr>
          <p:cNvSpPr>
            <a:spLocks noGrp="1"/>
          </p:cNvSpPr>
          <p:nvPr/>
        </p:nvSpPr>
        <p:spPr>
          <a:xfrm>
            <a:off x="533400" y="6467475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· Project presentation · Test accounts shown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6ED87C-6352-4AD0-86F5-318357D0E6B3}"/>
              </a:ext>
            </a:extLst>
          </p:cNvPr>
          <p:cNvSpPr>
            <a:spLocks noGrp="1"/>
          </p:cNvSpPr>
          <p:nvPr/>
        </p:nvSpPr>
        <p:spPr>
          <a:xfrm>
            <a:off x="11334750" y="646747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74F208-7941-4960-98C1-AD83ED847900}"/>
              </a:ext>
            </a:extLst>
          </p:cNvPr>
          <p:cNvSpPr>
            <a:spLocks noGrp="1"/>
          </p:cNvSpPr>
          <p:nvPr/>
        </p:nvSpPr>
        <p:spPr>
          <a:xfrm>
            <a:off x="571500" y="2047875"/>
            <a:ext cx="320992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Clear request receipt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B75997-F156-4CA7-841B-CB07DE2E6A00}"/>
              </a:ext>
            </a:extLst>
          </p:cNvPr>
          <p:cNvSpPr>
            <a:spLocks noGrp="1"/>
          </p:cNvSpPr>
          <p:nvPr/>
        </p:nvSpPr>
        <p:spPr>
          <a:xfrm>
            <a:off x="571500" y="2600325"/>
            <a:ext cx="320992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The patient knows the submission reached the care team.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57144-685D-49AE-BE23-D1BA04C04FA5}"/>
              </a:ext>
            </a:extLst>
          </p:cNvPr>
          <p:cNvSpPr>
            <a:spLocks noGrp="1"/>
          </p:cNvSpPr>
          <p:nvPr/>
        </p:nvSpPr>
        <p:spPr>
          <a:xfrm>
            <a:off x="571500" y="3419475"/>
            <a:ext cx="320992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Appointment details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F53743-F4FB-47D3-9527-6013DAAAB7F3}"/>
              </a:ext>
            </a:extLst>
          </p:cNvPr>
          <p:cNvSpPr>
            <a:spLocks noGrp="1"/>
          </p:cNvSpPr>
          <p:nvPr/>
        </p:nvSpPr>
        <p:spPr>
          <a:xfrm>
            <a:off x="571500" y="3971925"/>
            <a:ext cx="320992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Centre, machine, date, timezone and journey timing.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7DB4E3-486A-4507-97A5-11B032D67CD5}"/>
              </a:ext>
            </a:extLst>
          </p:cNvPr>
          <p:cNvSpPr>
            <a:spLocks noGrp="1"/>
          </p:cNvSpPr>
          <p:nvPr/>
        </p:nvSpPr>
        <p:spPr>
          <a:xfrm>
            <a:off x="571500" y="4791075"/>
            <a:ext cx="320992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Journey status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E62F83-ECC1-4FFB-A14E-4C3DF208D936}"/>
              </a:ext>
            </a:extLst>
          </p:cNvPr>
          <p:cNvSpPr>
            <a:spLocks noGrp="1"/>
          </p:cNvSpPr>
          <p:nvPr/>
        </p:nvSpPr>
        <p:spPr>
          <a:xfrm>
            <a:off x="571500" y="5343525"/>
            <a:ext cx="320992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Track provider confirmation, arrival and treatment milestones.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AE26D0-EFE0-44A6-BC62-74C6D15A5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87456" y="2133600"/>
            <a:ext cx="7446088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763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D0D47F6-756A-43E4-B38C-58E983649587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 /  WORLDWIDE DISCOVERY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39DEA9-B8E5-4D69-AC18-BF4EEFB08B2B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111252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Explore nearby dialysis centres worldwide.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B1B039-2982-49E2-B463-567A39ED9483}"/>
              </a:ext>
            </a:extLst>
          </p:cNvPr>
          <p:cNvSpPr>
            <a:spLocks noGrp="1"/>
          </p:cNvSpPr>
          <p:nvPr/>
        </p:nvSpPr>
        <p:spPr>
          <a:xfrm>
            <a:off x="533400" y="6467475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· Project presentation · Test accounts shown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5F6016-E866-42AA-A4F1-81CB2D42FEBB}"/>
              </a:ext>
            </a:extLst>
          </p:cNvPr>
          <p:cNvSpPr>
            <a:spLocks noGrp="1"/>
          </p:cNvSpPr>
          <p:nvPr/>
        </p:nvSpPr>
        <p:spPr>
          <a:xfrm>
            <a:off x="11334750" y="646747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9BD9D2-D2BE-4202-A947-780CFD380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2268" y="2105025"/>
            <a:ext cx="7446088" cy="4191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CBC8B44-A7B6-4FF5-967A-6B4C0145F908}"/>
              </a:ext>
            </a:extLst>
          </p:cNvPr>
          <p:cNvSpPr>
            <a:spLocks noGrp="1"/>
          </p:cNvSpPr>
          <p:nvPr/>
        </p:nvSpPr>
        <p:spPr>
          <a:xfrm>
            <a:off x="8677275" y="2047875"/>
            <a:ext cx="29241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Choose a location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E25A35-BF75-45A2-9FD0-0AD570A5D019}"/>
              </a:ext>
            </a:extLst>
          </p:cNvPr>
          <p:cNvSpPr>
            <a:spLocks noGrp="1"/>
          </p:cNvSpPr>
          <p:nvPr/>
        </p:nvSpPr>
        <p:spPr>
          <a:xfrm>
            <a:off x="8677275" y="2600325"/>
            <a:ext cx="292417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Search a place, detect location or select a map pin.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5F20F8-8B53-4439-BD06-29191D72990F}"/>
              </a:ext>
            </a:extLst>
          </p:cNvPr>
          <p:cNvSpPr>
            <a:spLocks noGrp="1"/>
          </p:cNvSpPr>
          <p:nvPr/>
        </p:nvSpPr>
        <p:spPr>
          <a:xfrm>
            <a:off x="8677275" y="3429000"/>
            <a:ext cx="29241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Open a real listing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5AC9E6-16C6-4983-A7ED-36834865A71A}"/>
              </a:ext>
            </a:extLst>
          </p:cNvPr>
          <p:cNvSpPr>
            <a:spLocks noGrp="1"/>
          </p:cNvSpPr>
          <p:nvPr/>
        </p:nvSpPr>
        <p:spPr>
          <a:xfrm>
            <a:off x="8677275" y="3981450"/>
            <a:ext cx="292417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OpenStreetMap discovery and Google Maps links.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961813-E966-41DE-951C-4EAA589B2C0E}"/>
              </a:ext>
            </a:extLst>
          </p:cNvPr>
          <p:cNvSpPr>
            <a:spLocks noGrp="1"/>
          </p:cNvSpPr>
          <p:nvPr/>
        </p:nvSpPr>
        <p:spPr>
          <a:xfrm>
            <a:off x="8677275" y="4810125"/>
            <a:ext cx="29241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Confirm capacity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2A581-09AD-4E68-9721-48A0EC885B7B}"/>
              </a:ext>
            </a:extLst>
          </p:cNvPr>
          <p:cNvSpPr>
            <a:spLocks noGrp="1"/>
          </p:cNvSpPr>
          <p:nvPr/>
        </p:nvSpPr>
        <p:spPr>
          <a:xfrm>
            <a:off x="8677275" y="5362575"/>
            <a:ext cx="2924175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 directory listing does not guarantee a staffed slot or booking.</a:t>
            </a:r>
          </a:p>
        </p:txBody>
      </p:sp>
    </p:spTree>
    <p:extLst>
      <p:ext uri="{BB962C8B-B14F-4D97-AF65-F5344CB8AC3E}">
        <p14:creationId xmlns:p14="http://schemas.microsoft.com/office/powerpoint/2010/main" val="233638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190B784-C100-44FD-8EF6-02C86F603CDE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 /  IMPLEMENTATION &amp; 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1EF089-91E6-46D7-9CA3-2B2C7AE1B551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111252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A working prototype with checks across the journey.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0C9281-29F7-45FC-99CA-7CD0B036EF11}"/>
              </a:ext>
            </a:extLst>
          </p:cNvPr>
          <p:cNvSpPr>
            <a:spLocks noGrp="1"/>
          </p:cNvSpPr>
          <p:nvPr/>
        </p:nvSpPr>
        <p:spPr>
          <a:xfrm>
            <a:off x="533400" y="6467475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· Project presentation · Test accounts shown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B77A63-60A4-421A-B751-F7975DF086E8}"/>
              </a:ext>
            </a:extLst>
          </p:cNvPr>
          <p:cNvSpPr>
            <a:spLocks noGrp="1"/>
          </p:cNvSpPr>
          <p:nvPr/>
        </p:nvSpPr>
        <p:spPr>
          <a:xfrm>
            <a:off x="11334750" y="646747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D0E25B-AB98-4513-A191-DFA859B2C66B}"/>
              </a:ext>
            </a:extLst>
          </p:cNvPr>
          <p:cNvSpPr>
            <a:spLocks noGrp="1"/>
          </p:cNvSpPr>
          <p:nvPr/>
        </p:nvSpPr>
        <p:spPr>
          <a:xfrm>
            <a:off x="571500" y="2171700"/>
            <a:ext cx="323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D60498-0E6D-4552-8545-9EFD04C8FE18}"/>
              </a:ext>
            </a:extLst>
          </p:cNvPr>
          <p:cNvSpPr>
            <a:spLocks noGrp="1"/>
          </p:cNvSpPr>
          <p:nvPr/>
        </p:nvSpPr>
        <p:spPr>
          <a:xfrm>
            <a:off x="609600" y="3190875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Domain checks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C25CB0-6D7B-49C9-B50E-AF95E499AF1B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Timing, compatibility, conflict</a:t>
            </a:r>
          </a:p>
          <a:p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and scheduling rules.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C4E9BE-74C3-4F97-AC7F-85726A336641}"/>
              </a:ext>
            </a:extLst>
          </p:cNvPr>
          <p:cNvSpPr>
            <a:spLocks noGrp="1"/>
          </p:cNvSpPr>
          <p:nvPr/>
        </p:nvSpPr>
        <p:spPr>
          <a:xfrm>
            <a:off x="4476750" y="2171700"/>
            <a:ext cx="3286125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169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593876-378B-4367-A420-8E82ABBFB7D4}"/>
              </a:ext>
            </a:extLst>
          </p:cNvPr>
          <p:cNvSpPr>
            <a:spLocks noGrp="1"/>
          </p:cNvSpPr>
          <p:nvPr/>
        </p:nvSpPr>
        <p:spPr>
          <a:xfrm>
            <a:off x="4514850" y="3190875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API &amp; security checks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4D64D-C3BC-4A26-B1A6-50B5690D265F}"/>
              </a:ext>
            </a:extLst>
          </p:cNvPr>
          <p:cNvSpPr>
            <a:spLocks noGrp="1"/>
          </p:cNvSpPr>
          <p:nvPr/>
        </p:nvSpPr>
        <p:spPr>
          <a:xfrm>
            <a:off x="4514850" y="3705225"/>
            <a:ext cx="333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Isolated account, document,</a:t>
            </a:r>
          </a:p>
          <a:p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permission and request tests.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4581AA-31FE-4456-A645-9DF0C5808F4C}"/>
              </a:ext>
            </a:extLst>
          </p:cNvPr>
          <p:cNvSpPr>
            <a:spLocks noGrp="1"/>
          </p:cNvSpPr>
          <p:nvPr/>
        </p:nvSpPr>
        <p:spPr>
          <a:xfrm>
            <a:off x="8296275" y="2333625"/>
            <a:ext cx="3190875" cy="7905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0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40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4 roles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98DF6-0749-4568-96AE-A9C50BDAA181}"/>
              </a:ext>
            </a:extLst>
          </p:cNvPr>
          <p:cNvSpPr>
            <a:spLocks noGrp="1"/>
          </p:cNvSpPr>
          <p:nvPr/>
        </p:nvSpPr>
        <p:spPr>
          <a:xfrm>
            <a:off x="8334375" y="3190875"/>
            <a:ext cx="328612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Browser walkthroughs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625FD7-581B-40C3-A158-1CF7CD131932}"/>
              </a:ext>
            </a:extLst>
          </p:cNvPr>
          <p:cNvSpPr>
            <a:spLocks noGrp="1"/>
          </p:cNvSpPr>
          <p:nvPr/>
        </p:nvSpPr>
        <p:spPr>
          <a:xfrm>
            <a:off x="8334375" y="3705225"/>
            <a:ext cx="3257550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Patient, admin, hospital</a:t>
            </a:r>
          </a:p>
          <a:p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and transport; desktop</a:t>
            </a:r>
          </a:p>
          <a:p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and mobile layouts.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916A43-EDFF-4490-A953-4AC9524F92F4}"/>
              </a:ext>
            </a:extLst>
          </p:cNvPr>
          <p:cNvSpPr>
            <a:spLocks noGrp="1"/>
          </p:cNvSpPr>
          <p:nvPr/>
        </p:nvSpPr>
        <p:spPr>
          <a:xfrm>
            <a:off x="571500" y="54768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React / TypeScript · Cloudflare Workers + D1</a:t>
            </a:r>
          </a:p>
          <a:p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Role-based access · Private documents</a:t>
            </a:r>
          </a:p>
        </p:txBody>
      </p:sp>
    </p:spTree>
    <p:extLst>
      <p:ext uri="{BB962C8B-B14F-4D97-AF65-F5344CB8AC3E}">
        <p14:creationId xmlns:p14="http://schemas.microsoft.com/office/powerpoint/2010/main" val="1069736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37879A8-9FAA-458A-84DD-13563173613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DCE5D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DCE5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CE5D1"/>
                </a:solidFill>
                <a:latin typeface="Arial"/>
                <a:ea typeface="Arial"/>
                <a:cs typeface="Arial"/>
              </a:rPr>
              <a:t>THE NEXT STEP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A63EF0-4D8A-4DE6-9CC2-B267C2B3546D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Keep care moving.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8BBADD-92EC-48BC-B5C0-B5FFBDFFA6BE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668000" cy="1619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request.</a:t>
            </a:r>
          </a:p>
          <a:p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Human-reviewed matching.</a:t>
            </a:r>
          </a:p>
          <a:p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Treatment and travel, coordinated.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6EC591-2632-448A-B4F2-D9636AA3810A}"/>
              </a:ext>
            </a:extLst>
          </p:cNvPr>
          <p:cNvSpPr>
            <a:spLocks noGrp="1"/>
          </p:cNvSpPr>
          <p:nvPr/>
        </p:nvSpPr>
        <p:spPr>
          <a:xfrm>
            <a:off x="609600" y="4505325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DCE5D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DCE5D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CE5D1"/>
                </a:solidFill>
                <a:latin typeface="Arial"/>
                <a:ea typeface="Arial"/>
                <a:cs typeface="Arial"/>
              </a:rPr>
              <a:t>Next: partner onboarding, supervised pilot feedback</a:t>
            </a:r>
          </a:p>
          <a:p>
            <a:pPr>
              <a:defRPr sz="2025" b="0">
                <a:solidFill>
                  <a:srgbClr val="DCE5D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CE5D1"/>
                </a:solidFill>
                <a:latin typeface="Arial"/>
                <a:ea typeface="Arial"/>
                <a:cs typeface="Arial"/>
              </a:rPr>
              <a:t>and verified routing / provider integrations.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8EC82C-9332-4E87-80D4-25C471A0D987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1">
                <a:solidFill>
                  <a:srgbClr val="DCE5D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DCE5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CE5D1"/>
                </a:solidFill>
                <a:latin typeface="Arial"/>
                <a:ea typeface="Arial"/>
                <a:cs typeface="Arial"/>
              </a:rPr>
              <a:t>Live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6E9B0A-4F40-4BE2-92AD-70E491FC0033}"/>
              </a:ext>
            </a:extLst>
          </p:cNvPr>
          <p:cNvSpPr>
            <a:spLocks noGrp="1"/>
          </p:cNvSpPr>
          <p:nvPr/>
        </p:nvSpPr>
        <p:spPr>
          <a:xfrm>
            <a:off x="609600" y="6010275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carerelay-dialysis-continuity.amplewand1.chatgpt.site</a:t>
            </a:r>
          </a:p>
        </p:txBody>
      </p:sp>
    </p:spTree>
    <p:extLst>
      <p:ext uri="{BB962C8B-B14F-4D97-AF65-F5344CB8AC3E}">
        <p14:creationId xmlns:p14="http://schemas.microsoft.com/office/powerpoint/2010/main" val="13478209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1398</Words>
  <Application>Microsoft Office PowerPoint</Application>
  <DocSecurity>0</DocSecurity>
  <PresentationFormat>Widescreen</PresentationFormat>
  <Paragraphs>150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Aadithya Ram</cp:lastModifiedBy>
  <cp:revision>1</cp:revision>
  <dcterms:created xsi:type="dcterms:W3CDTF">2026-10-11T17:51:41Z</dcterms:created>
  <dcterms:modified xsi:type="dcterms:W3CDTF">2026-10-11T17:56:22Z</dcterms:modified>
</cp:coreProperties>
</file>